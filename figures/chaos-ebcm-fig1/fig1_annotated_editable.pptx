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40000" cy="5688000"/>
  <p:notesSz cx="5688000" cy="68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3420000" y="144000"/>
            <a:ext cx="0" cy="5004000"/>
          </a:xfrm>
          <a:prstGeom prst="line">
            <a:avLst/>
          </a:prstGeom>
          <a:noFill/>
          <a:ln w="7620">
            <a:solidFill>
              <a:srgbClr val="DCDC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0000" y="2772000"/>
            <a:ext cx="6516000" cy="0"/>
          </a:xfrm>
          <a:prstGeom prst="line">
            <a:avLst/>
          </a:prstGeom>
          <a:noFill/>
          <a:ln w="7620">
            <a:solidFill>
              <a:srgbClr val="DCDC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0000" y="108000"/>
            <a:ext cx="223560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67200" y="108000"/>
            <a:ext cx="1768896" cy="139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Multiplex hypergraph and hyperdegrees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40992" y="1072961"/>
            <a:ext cx="1310015" cy="1130153"/>
          </a:xfrm>
          <a:custGeom>
            <a:avLst/>
            <a:gdLst/>
            <a:ahLst/>
            <a:cxnLst/>
            <a:rect l="l" t="t" r="r" b="b"/>
            <a:pathLst>
              <a:path w="1310015" h="1130153">
                <a:moveTo>
                  <a:pt x="44093" y="548124"/>
                </a:moveTo>
                <a:lnTo>
                  <a:pt x="33477" y="559917"/>
                </a:lnTo>
                <a:lnTo>
                  <a:pt x="24156" y="572758"/>
                </a:lnTo>
                <a:lnTo>
                  <a:pt x="16231" y="586505"/>
                </a:lnTo>
                <a:lnTo>
                  <a:pt x="9791" y="601007"/>
                </a:lnTo>
                <a:lnTo>
                  <a:pt x="4907" y="616104"/>
                </a:lnTo>
                <a:lnTo>
                  <a:pt x="1631" y="631629"/>
                </a:lnTo>
                <a:lnTo>
                  <a:pt x="0" y="647413"/>
                </a:lnTo>
                <a:lnTo>
                  <a:pt x="32" y="663280"/>
                </a:lnTo>
                <a:lnTo>
                  <a:pt x="1727" y="679057"/>
                </a:lnTo>
                <a:lnTo>
                  <a:pt x="5067" y="694569"/>
                </a:lnTo>
                <a:lnTo>
                  <a:pt x="10013" y="709646"/>
                </a:lnTo>
                <a:lnTo>
                  <a:pt x="16512" y="724121"/>
                </a:lnTo>
                <a:lnTo>
                  <a:pt x="24492" y="737836"/>
                </a:lnTo>
                <a:lnTo>
                  <a:pt x="33866" y="750638"/>
                </a:lnTo>
                <a:lnTo>
                  <a:pt x="44530" y="762388"/>
                </a:lnTo>
                <a:lnTo>
                  <a:pt x="56366" y="772956"/>
                </a:lnTo>
                <a:lnTo>
                  <a:pt x="69245" y="782225"/>
                </a:lnTo>
                <a:lnTo>
                  <a:pt x="573245" y="1106225"/>
                </a:lnTo>
                <a:lnTo>
                  <a:pt x="581972" y="1111429"/>
                </a:lnTo>
                <a:lnTo>
                  <a:pt x="591029" y="1116036"/>
                </a:lnTo>
                <a:lnTo>
                  <a:pt x="600375" y="1120024"/>
                </a:lnTo>
                <a:lnTo>
                  <a:pt x="609968" y="1123375"/>
                </a:lnTo>
                <a:lnTo>
                  <a:pt x="619764" y="1126074"/>
                </a:lnTo>
                <a:lnTo>
                  <a:pt x="629719" y="1128109"/>
                </a:lnTo>
                <a:lnTo>
                  <a:pt x="639789" y="1129471"/>
                </a:lnTo>
                <a:lnTo>
                  <a:pt x="649927" y="1130153"/>
                </a:lnTo>
                <a:lnTo>
                  <a:pt x="660088" y="1130153"/>
                </a:lnTo>
                <a:lnTo>
                  <a:pt x="670226" y="1129471"/>
                </a:lnTo>
                <a:lnTo>
                  <a:pt x="680296" y="1128109"/>
                </a:lnTo>
                <a:lnTo>
                  <a:pt x="690251" y="1126074"/>
                </a:lnTo>
                <a:lnTo>
                  <a:pt x="700047" y="1123375"/>
                </a:lnTo>
                <a:lnTo>
                  <a:pt x="709640" y="1120024"/>
                </a:lnTo>
                <a:lnTo>
                  <a:pt x="718986" y="1116036"/>
                </a:lnTo>
                <a:lnTo>
                  <a:pt x="728043" y="1111429"/>
                </a:lnTo>
                <a:lnTo>
                  <a:pt x="736770" y="1106225"/>
                </a:lnTo>
                <a:lnTo>
                  <a:pt x="1240770" y="782225"/>
                </a:lnTo>
                <a:lnTo>
                  <a:pt x="1253649" y="772956"/>
                </a:lnTo>
                <a:lnTo>
                  <a:pt x="1265485" y="762388"/>
                </a:lnTo>
                <a:lnTo>
                  <a:pt x="1276149" y="750638"/>
                </a:lnTo>
                <a:lnTo>
                  <a:pt x="1285523" y="737836"/>
                </a:lnTo>
                <a:lnTo>
                  <a:pt x="1293503" y="724121"/>
                </a:lnTo>
                <a:lnTo>
                  <a:pt x="1300002" y="709646"/>
                </a:lnTo>
                <a:lnTo>
                  <a:pt x="1304949" y="694569"/>
                </a:lnTo>
                <a:lnTo>
                  <a:pt x="1308288" y="679057"/>
                </a:lnTo>
                <a:lnTo>
                  <a:pt x="1309983" y="663280"/>
                </a:lnTo>
                <a:lnTo>
                  <a:pt x="1310015" y="647413"/>
                </a:lnTo>
                <a:lnTo>
                  <a:pt x="1308384" y="631629"/>
                </a:lnTo>
                <a:lnTo>
                  <a:pt x="1305109" y="616104"/>
                </a:lnTo>
                <a:lnTo>
                  <a:pt x="1300224" y="601007"/>
                </a:lnTo>
                <a:lnTo>
                  <a:pt x="1293784" y="586505"/>
                </a:lnTo>
                <a:lnTo>
                  <a:pt x="1285859" y="572758"/>
                </a:lnTo>
                <a:lnTo>
                  <a:pt x="1276538" y="559917"/>
                </a:lnTo>
                <a:lnTo>
                  <a:pt x="1265922" y="548124"/>
                </a:lnTo>
                <a:lnTo>
                  <a:pt x="761922" y="44124"/>
                </a:lnTo>
                <a:lnTo>
                  <a:pt x="751601" y="34715"/>
                </a:lnTo>
                <a:lnTo>
                  <a:pt x="740456" y="26299"/>
                </a:lnTo>
                <a:lnTo>
                  <a:pt x="728582" y="18947"/>
                </a:lnTo>
                <a:lnTo>
                  <a:pt x="716080" y="12722"/>
                </a:lnTo>
                <a:lnTo>
                  <a:pt x="703058" y="7677"/>
                </a:lnTo>
                <a:lnTo>
                  <a:pt x="689625" y="3855"/>
                </a:lnTo>
                <a:lnTo>
                  <a:pt x="675897" y="1289"/>
                </a:lnTo>
                <a:lnTo>
                  <a:pt x="661991" y="0"/>
                </a:lnTo>
                <a:lnTo>
                  <a:pt x="648025" y="0"/>
                </a:lnTo>
                <a:lnTo>
                  <a:pt x="634118" y="1289"/>
                </a:lnTo>
                <a:lnTo>
                  <a:pt x="620390" y="3855"/>
                </a:lnTo>
                <a:lnTo>
                  <a:pt x="606958" y="7677"/>
                </a:lnTo>
                <a:lnTo>
                  <a:pt x="593935" y="12722"/>
                </a:lnTo>
                <a:lnTo>
                  <a:pt x="581433" y="18947"/>
                </a:lnTo>
                <a:lnTo>
                  <a:pt x="569559" y="26299"/>
                </a:lnTo>
                <a:lnTo>
                  <a:pt x="558414" y="34715"/>
                </a:lnTo>
                <a:lnTo>
                  <a:pt x="548093" y="44124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52821" y="604804"/>
            <a:ext cx="1094376" cy="806240"/>
          </a:xfrm>
          <a:custGeom>
            <a:avLst/>
            <a:gdLst/>
            <a:ahLst/>
            <a:cxnLst/>
            <a:rect l="l" t="t" r="r" b="b"/>
            <a:pathLst>
              <a:path w="1094376" h="806240">
                <a:moveTo>
                  <a:pt x="19901" y="580180"/>
                </a:moveTo>
                <a:lnTo>
                  <a:pt x="11537" y="597217"/>
                </a:lnTo>
                <a:lnTo>
                  <a:pt x="5373" y="615169"/>
                </a:lnTo>
                <a:lnTo>
                  <a:pt x="1508" y="633750"/>
                </a:lnTo>
                <a:lnTo>
                  <a:pt x="0" y="652670"/>
                </a:lnTo>
                <a:lnTo>
                  <a:pt x="875" y="671630"/>
                </a:lnTo>
                <a:lnTo>
                  <a:pt x="4118" y="690330"/>
                </a:lnTo>
                <a:lnTo>
                  <a:pt x="9678" y="708477"/>
                </a:lnTo>
                <a:lnTo>
                  <a:pt x="17468" y="725785"/>
                </a:lnTo>
                <a:lnTo>
                  <a:pt x="27364" y="741980"/>
                </a:lnTo>
                <a:lnTo>
                  <a:pt x="39212" y="756808"/>
                </a:lnTo>
                <a:lnTo>
                  <a:pt x="52824" y="770034"/>
                </a:lnTo>
                <a:lnTo>
                  <a:pt x="67986" y="781451"/>
                </a:lnTo>
                <a:lnTo>
                  <a:pt x="84459" y="790879"/>
                </a:lnTo>
                <a:lnTo>
                  <a:pt x="101983" y="798169"/>
                </a:lnTo>
                <a:lnTo>
                  <a:pt x="120282" y="803206"/>
                </a:lnTo>
                <a:lnTo>
                  <a:pt x="139068" y="805910"/>
                </a:lnTo>
                <a:lnTo>
                  <a:pt x="158045" y="806240"/>
                </a:lnTo>
                <a:lnTo>
                  <a:pt x="950045" y="770240"/>
                </a:lnTo>
                <a:lnTo>
                  <a:pt x="970773" y="767857"/>
                </a:lnTo>
                <a:lnTo>
                  <a:pt x="990976" y="762643"/>
                </a:lnTo>
                <a:lnTo>
                  <a:pt x="1010269" y="754697"/>
                </a:lnTo>
                <a:lnTo>
                  <a:pt x="1028284" y="744171"/>
                </a:lnTo>
                <a:lnTo>
                  <a:pt x="1044678" y="731265"/>
                </a:lnTo>
                <a:lnTo>
                  <a:pt x="1059140" y="716224"/>
                </a:lnTo>
                <a:lnTo>
                  <a:pt x="1071393" y="699337"/>
                </a:lnTo>
                <a:lnTo>
                  <a:pt x="1081205" y="680923"/>
                </a:lnTo>
                <a:lnTo>
                  <a:pt x="1088389" y="661333"/>
                </a:lnTo>
                <a:lnTo>
                  <a:pt x="1092807" y="640942"/>
                </a:lnTo>
                <a:lnTo>
                  <a:pt x="1094376" y="620136"/>
                </a:lnTo>
                <a:lnTo>
                  <a:pt x="1093066" y="599312"/>
                </a:lnTo>
                <a:lnTo>
                  <a:pt x="1088901" y="578867"/>
                </a:lnTo>
                <a:lnTo>
                  <a:pt x="1081962" y="559190"/>
                </a:lnTo>
                <a:lnTo>
                  <a:pt x="1072379" y="540655"/>
                </a:lnTo>
                <a:lnTo>
                  <a:pt x="1060337" y="523616"/>
                </a:lnTo>
                <a:lnTo>
                  <a:pt x="1046063" y="508398"/>
                </a:lnTo>
                <a:lnTo>
                  <a:pt x="542063" y="40398"/>
                </a:lnTo>
                <a:lnTo>
                  <a:pt x="529777" y="30145"/>
                </a:lnTo>
                <a:lnTo>
                  <a:pt x="516476" y="21248"/>
                </a:lnTo>
                <a:lnTo>
                  <a:pt x="502310" y="13806"/>
                </a:lnTo>
                <a:lnTo>
                  <a:pt x="487436" y="7904"/>
                </a:lnTo>
                <a:lnTo>
                  <a:pt x="472021" y="3606"/>
                </a:lnTo>
                <a:lnTo>
                  <a:pt x="456239" y="962"/>
                </a:lnTo>
                <a:lnTo>
                  <a:pt x="440266" y="0"/>
                </a:lnTo>
                <a:lnTo>
                  <a:pt x="424281" y="732"/>
                </a:lnTo>
                <a:lnTo>
                  <a:pt x="408462" y="3149"/>
                </a:lnTo>
                <a:lnTo>
                  <a:pt x="392987" y="7225"/>
                </a:lnTo>
                <a:lnTo>
                  <a:pt x="378030" y="12913"/>
                </a:lnTo>
                <a:lnTo>
                  <a:pt x="363758" y="20150"/>
                </a:lnTo>
                <a:lnTo>
                  <a:pt x="350331" y="28855"/>
                </a:lnTo>
                <a:lnTo>
                  <a:pt x="337899" y="38930"/>
                </a:lnTo>
                <a:lnTo>
                  <a:pt x="326601" y="50262"/>
                </a:lnTo>
                <a:lnTo>
                  <a:pt x="316564" y="62726"/>
                </a:lnTo>
                <a:lnTo>
                  <a:pt x="307901" y="76180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4803" y="604804"/>
            <a:ext cx="1094376" cy="806240"/>
          </a:xfrm>
          <a:custGeom>
            <a:avLst/>
            <a:gdLst/>
            <a:ahLst/>
            <a:cxnLst/>
            <a:rect l="l" t="t" r="r" b="b"/>
            <a:pathLst>
              <a:path w="1094376" h="806240">
                <a:moveTo>
                  <a:pt x="48313" y="508398"/>
                </a:moveTo>
                <a:lnTo>
                  <a:pt x="34039" y="523616"/>
                </a:lnTo>
                <a:lnTo>
                  <a:pt x="21997" y="540655"/>
                </a:lnTo>
                <a:lnTo>
                  <a:pt x="12414" y="559190"/>
                </a:lnTo>
                <a:lnTo>
                  <a:pt x="5475" y="578867"/>
                </a:lnTo>
                <a:lnTo>
                  <a:pt x="1310" y="599312"/>
                </a:lnTo>
                <a:lnTo>
                  <a:pt x="0" y="620136"/>
                </a:lnTo>
                <a:lnTo>
                  <a:pt x="1569" y="640942"/>
                </a:lnTo>
                <a:lnTo>
                  <a:pt x="5987" y="661333"/>
                </a:lnTo>
                <a:lnTo>
                  <a:pt x="13171" y="680923"/>
                </a:lnTo>
                <a:lnTo>
                  <a:pt x="22983" y="699337"/>
                </a:lnTo>
                <a:lnTo>
                  <a:pt x="35236" y="716224"/>
                </a:lnTo>
                <a:lnTo>
                  <a:pt x="49698" y="731265"/>
                </a:lnTo>
                <a:lnTo>
                  <a:pt x="66092" y="744171"/>
                </a:lnTo>
                <a:lnTo>
                  <a:pt x="84107" y="754697"/>
                </a:lnTo>
                <a:lnTo>
                  <a:pt x="103400" y="762643"/>
                </a:lnTo>
                <a:lnTo>
                  <a:pt x="123603" y="767857"/>
                </a:lnTo>
                <a:lnTo>
                  <a:pt x="144331" y="770240"/>
                </a:lnTo>
                <a:lnTo>
                  <a:pt x="936331" y="806240"/>
                </a:lnTo>
                <a:lnTo>
                  <a:pt x="955308" y="805910"/>
                </a:lnTo>
                <a:lnTo>
                  <a:pt x="974094" y="803206"/>
                </a:lnTo>
                <a:lnTo>
                  <a:pt x="992393" y="798169"/>
                </a:lnTo>
                <a:lnTo>
                  <a:pt x="1009917" y="790879"/>
                </a:lnTo>
                <a:lnTo>
                  <a:pt x="1026390" y="781451"/>
                </a:lnTo>
                <a:lnTo>
                  <a:pt x="1041552" y="770034"/>
                </a:lnTo>
                <a:lnTo>
                  <a:pt x="1055164" y="756808"/>
                </a:lnTo>
                <a:lnTo>
                  <a:pt x="1067012" y="741980"/>
                </a:lnTo>
                <a:lnTo>
                  <a:pt x="1076908" y="725785"/>
                </a:lnTo>
                <a:lnTo>
                  <a:pt x="1084698" y="708477"/>
                </a:lnTo>
                <a:lnTo>
                  <a:pt x="1090258" y="690330"/>
                </a:lnTo>
                <a:lnTo>
                  <a:pt x="1093501" y="671630"/>
                </a:lnTo>
                <a:lnTo>
                  <a:pt x="1094376" y="652670"/>
                </a:lnTo>
                <a:lnTo>
                  <a:pt x="1092868" y="633750"/>
                </a:lnTo>
                <a:lnTo>
                  <a:pt x="1089003" y="615169"/>
                </a:lnTo>
                <a:lnTo>
                  <a:pt x="1082839" y="597217"/>
                </a:lnTo>
                <a:lnTo>
                  <a:pt x="1074475" y="580180"/>
                </a:lnTo>
                <a:lnTo>
                  <a:pt x="786475" y="76180"/>
                </a:lnTo>
                <a:lnTo>
                  <a:pt x="777812" y="62726"/>
                </a:lnTo>
                <a:lnTo>
                  <a:pt x="767775" y="50262"/>
                </a:lnTo>
                <a:lnTo>
                  <a:pt x="756477" y="38930"/>
                </a:lnTo>
                <a:lnTo>
                  <a:pt x="744045" y="28855"/>
                </a:lnTo>
                <a:lnTo>
                  <a:pt x="730618" y="20150"/>
                </a:lnTo>
                <a:lnTo>
                  <a:pt x="716346" y="12913"/>
                </a:lnTo>
                <a:lnTo>
                  <a:pt x="701388" y="7225"/>
                </a:lnTo>
                <a:lnTo>
                  <a:pt x="685914" y="3149"/>
                </a:lnTo>
                <a:lnTo>
                  <a:pt x="670095" y="732"/>
                </a:lnTo>
                <a:lnTo>
                  <a:pt x="654110" y="0"/>
                </a:lnTo>
                <a:lnTo>
                  <a:pt x="638137" y="962"/>
                </a:lnTo>
                <a:lnTo>
                  <a:pt x="622355" y="3606"/>
                </a:lnTo>
                <a:lnTo>
                  <a:pt x="606940" y="7904"/>
                </a:lnTo>
                <a:lnTo>
                  <a:pt x="592066" y="13806"/>
                </a:lnTo>
                <a:lnTo>
                  <a:pt x="577900" y="21248"/>
                </a:lnTo>
                <a:lnTo>
                  <a:pt x="564599" y="30145"/>
                </a:lnTo>
                <a:lnTo>
                  <a:pt x="552313" y="40398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200" y="700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200" y="1204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44200" y="700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32200" y="1204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200" y="1672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44200" y="1672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0200" y="1996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24000" y="1152000"/>
            <a:ext cx="144000" cy="14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94000" y="1231662"/>
            <a:ext cx="150408" cy="143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780" dirty="0"/>
          </a:p>
        </p:txBody>
      </p:sp>
      <p:sp>
        <p:nvSpPr>
          <p:cNvPr id="18" name="Text 16"/>
          <p:cNvSpPr txBox="1"/>
          <p:nvPr/>
        </p:nvSpPr>
        <p:spPr>
          <a:xfrm>
            <a:off x="469080" y="905085"/>
            <a:ext cx="177840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700" baseline="-40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1945080" y="905085"/>
            <a:ext cx="177840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700" baseline="-40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1207080" y="1823085"/>
            <a:ext cx="177840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700" baseline="-40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2448000" y="815364"/>
            <a:ext cx="497880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2</a:t>
            </a:r>
            <a:endParaRPr lang="en-US" sz="780" dirty="0"/>
          </a:p>
        </p:txBody>
      </p:sp>
      <p:sp>
        <p:nvSpPr>
          <p:cNvPr id="22" name="Text 20"/>
          <p:cNvSpPr txBox="1"/>
          <p:nvPr/>
        </p:nvSpPr>
        <p:spPr>
          <a:xfrm>
            <a:off x="2448000" y="1031364"/>
            <a:ext cx="497880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1</a:t>
            </a:r>
            <a:endParaRPr lang="en-US" sz="780" dirty="0"/>
          </a:p>
        </p:txBody>
      </p:sp>
      <p:sp>
        <p:nvSpPr>
          <p:cNvPr id="23" name="Text 21"/>
          <p:cNvSpPr txBox="1"/>
          <p:nvPr/>
        </p:nvSpPr>
        <p:spPr>
          <a:xfrm>
            <a:off x="2448000" y="1328508"/>
            <a:ext cx="671616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pPr algn="l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pPr algn="l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2448000" y="1508508"/>
            <a:ext cx="671616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pPr algn="l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pPr algn="l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4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180000" y="2205936"/>
            <a:ext cx="2180376" cy="160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hyperdegree distribution 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  </a:t>
            </a:r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0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…,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0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0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70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180000" y="2372508"/>
            <a:ext cx="2536992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Ψ(</a:t>
            </a:r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uniformly sampled node                                   [Eq. (3)]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180000" y="2534508"/>
            <a:ext cx="2719872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node reached via layer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arrival edge excluded    [Eq. (4)]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3564000" y="108000"/>
            <a:ext cx="232704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751200" y="108000"/>
            <a:ext cx="1768896" cy="139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Edge-based closure at finite prevalence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20803" y="352885"/>
            <a:ext cx="1094397" cy="914307"/>
          </a:xfrm>
          <a:custGeom>
            <a:avLst/>
            <a:gdLst/>
            <a:ahLst/>
            <a:cxnLst/>
            <a:rect l="l" t="t" r="r" b="b"/>
            <a:pathLst>
              <a:path w="1094397" h="914307">
                <a:moveTo>
                  <a:pt x="67327" y="313309"/>
                </a:moveTo>
                <a:lnTo>
                  <a:pt x="54037" y="323264"/>
                </a:lnTo>
                <a:lnTo>
                  <a:pt x="41920" y="334617"/>
                </a:lnTo>
                <a:lnTo>
                  <a:pt x="31120" y="347229"/>
                </a:lnTo>
                <a:lnTo>
                  <a:pt x="21769" y="360950"/>
                </a:lnTo>
                <a:lnTo>
                  <a:pt x="13978" y="375614"/>
                </a:lnTo>
                <a:lnTo>
                  <a:pt x="7843" y="391043"/>
                </a:lnTo>
                <a:lnTo>
                  <a:pt x="3436" y="407053"/>
                </a:lnTo>
                <a:lnTo>
                  <a:pt x="811" y="423448"/>
                </a:lnTo>
                <a:lnTo>
                  <a:pt x="0" y="440033"/>
                </a:lnTo>
                <a:lnTo>
                  <a:pt x="1012" y="456607"/>
                </a:lnTo>
                <a:lnTo>
                  <a:pt x="3836" y="472970"/>
                </a:lnTo>
                <a:lnTo>
                  <a:pt x="8437" y="488924"/>
                </a:lnTo>
                <a:lnTo>
                  <a:pt x="14760" y="504278"/>
                </a:lnTo>
                <a:lnTo>
                  <a:pt x="22728" y="518846"/>
                </a:lnTo>
                <a:lnTo>
                  <a:pt x="32245" y="532452"/>
                </a:lnTo>
                <a:lnTo>
                  <a:pt x="43197" y="544933"/>
                </a:lnTo>
                <a:lnTo>
                  <a:pt x="55452" y="556137"/>
                </a:lnTo>
                <a:lnTo>
                  <a:pt x="451452" y="880137"/>
                </a:lnTo>
                <a:lnTo>
                  <a:pt x="460777" y="887184"/>
                </a:lnTo>
                <a:lnTo>
                  <a:pt x="470620" y="893489"/>
                </a:lnTo>
                <a:lnTo>
                  <a:pt x="480920" y="899015"/>
                </a:lnTo>
                <a:lnTo>
                  <a:pt x="491616" y="903728"/>
                </a:lnTo>
                <a:lnTo>
                  <a:pt x="502644" y="907602"/>
                </a:lnTo>
                <a:lnTo>
                  <a:pt x="513938" y="910612"/>
                </a:lnTo>
                <a:lnTo>
                  <a:pt x="525432" y="912740"/>
                </a:lnTo>
                <a:lnTo>
                  <a:pt x="537055" y="913974"/>
                </a:lnTo>
                <a:lnTo>
                  <a:pt x="548739" y="914307"/>
                </a:lnTo>
                <a:lnTo>
                  <a:pt x="560413" y="913736"/>
                </a:lnTo>
                <a:lnTo>
                  <a:pt x="572009" y="912265"/>
                </a:lnTo>
                <a:lnTo>
                  <a:pt x="583457" y="909903"/>
                </a:lnTo>
                <a:lnTo>
                  <a:pt x="594687" y="906663"/>
                </a:lnTo>
                <a:lnTo>
                  <a:pt x="605634" y="902566"/>
                </a:lnTo>
                <a:lnTo>
                  <a:pt x="616232" y="897635"/>
                </a:lnTo>
                <a:lnTo>
                  <a:pt x="626417" y="891900"/>
                </a:lnTo>
                <a:lnTo>
                  <a:pt x="636129" y="885396"/>
                </a:lnTo>
                <a:lnTo>
                  <a:pt x="1032129" y="597396"/>
                </a:lnTo>
                <a:lnTo>
                  <a:pt x="1044422" y="587432"/>
                </a:lnTo>
                <a:lnTo>
                  <a:pt x="1055606" y="576237"/>
                </a:lnTo>
                <a:lnTo>
                  <a:pt x="1065559" y="563935"/>
                </a:lnTo>
                <a:lnTo>
                  <a:pt x="1074172" y="550660"/>
                </a:lnTo>
                <a:lnTo>
                  <a:pt x="1081350" y="536558"/>
                </a:lnTo>
                <a:lnTo>
                  <a:pt x="1087015" y="521782"/>
                </a:lnTo>
                <a:lnTo>
                  <a:pt x="1091105" y="506496"/>
                </a:lnTo>
                <a:lnTo>
                  <a:pt x="1093575" y="490866"/>
                </a:lnTo>
                <a:lnTo>
                  <a:pt x="1094397" y="475063"/>
                </a:lnTo>
                <a:lnTo>
                  <a:pt x="1093564" y="459261"/>
                </a:lnTo>
                <a:lnTo>
                  <a:pt x="1091083" y="443632"/>
                </a:lnTo>
                <a:lnTo>
                  <a:pt x="1086983" y="428349"/>
                </a:lnTo>
                <a:lnTo>
                  <a:pt x="1081308" y="413577"/>
                </a:lnTo>
                <a:lnTo>
                  <a:pt x="1074120" y="399480"/>
                </a:lnTo>
                <a:lnTo>
                  <a:pt x="1065498" y="386211"/>
                </a:lnTo>
                <a:lnTo>
                  <a:pt x="1055537" y="373916"/>
                </a:lnTo>
                <a:lnTo>
                  <a:pt x="1044345" y="362729"/>
                </a:lnTo>
                <a:lnTo>
                  <a:pt x="684345" y="38729"/>
                </a:lnTo>
                <a:lnTo>
                  <a:pt x="675316" y="31217"/>
                </a:lnTo>
                <a:lnTo>
                  <a:pt x="665732" y="24429"/>
                </a:lnTo>
                <a:lnTo>
                  <a:pt x="655650" y="18405"/>
                </a:lnTo>
                <a:lnTo>
                  <a:pt x="645131" y="13182"/>
                </a:lnTo>
                <a:lnTo>
                  <a:pt x="634239" y="8791"/>
                </a:lnTo>
                <a:lnTo>
                  <a:pt x="623038" y="5258"/>
                </a:lnTo>
                <a:lnTo>
                  <a:pt x="611597" y="2606"/>
                </a:lnTo>
                <a:lnTo>
                  <a:pt x="599984" y="850"/>
                </a:lnTo>
                <a:lnTo>
                  <a:pt x="588270" y="0"/>
                </a:lnTo>
                <a:lnTo>
                  <a:pt x="576526" y="62"/>
                </a:lnTo>
                <a:lnTo>
                  <a:pt x="564822" y="1036"/>
                </a:lnTo>
                <a:lnTo>
                  <a:pt x="553229" y="2915"/>
                </a:lnTo>
                <a:lnTo>
                  <a:pt x="541816" y="5688"/>
                </a:lnTo>
                <a:lnTo>
                  <a:pt x="530653" y="9338"/>
                </a:lnTo>
                <a:lnTo>
                  <a:pt x="519808" y="13844"/>
                </a:lnTo>
                <a:lnTo>
                  <a:pt x="509344" y="19179"/>
                </a:lnTo>
                <a:lnTo>
                  <a:pt x="499327" y="25309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48200" y="448200"/>
            <a:ext cx="111600" cy="1116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8200" y="772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12200" y="1060200"/>
            <a:ext cx="111600" cy="111600"/>
          </a:xfrm>
          <a:prstGeom prst="ellipse">
            <a:avLst/>
          </a:prstGeom>
          <a:solidFill>
            <a:srgbClr val="43474A"/>
          </a:solidFill>
          <a:ln w="9525">
            <a:solidFill>
              <a:srgbClr val="1B1E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0000" y="720000"/>
            <a:ext cx="144000" cy="14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08800" y="806862"/>
            <a:ext cx="150408" cy="143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780" dirty="0"/>
          </a:p>
        </p:txBody>
      </p:sp>
      <p:sp>
        <p:nvSpPr>
          <p:cNvPr id="36" name="Text 34"/>
          <p:cNvSpPr txBox="1"/>
          <p:nvPr/>
        </p:nvSpPr>
        <p:spPr>
          <a:xfrm>
            <a:off x="3564000" y="500508"/>
            <a:ext cx="881928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layer-</a:t>
            </a:r>
            <a:pPr algn="l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hyperedge </a:t>
            </a:r>
            <a:pPr algn="l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 flipH="1">
            <a:off x="4652875" y="544937"/>
            <a:ext cx="289719" cy="193146"/>
          </a:xfrm>
          <a:prstGeom prst="line">
            <a:avLst/>
          </a:prstGeom>
          <a:noFill/>
          <a:ln w="1079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698000" y="518508"/>
            <a:ext cx="17784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 flipH="1">
            <a:off x="4078800" y="792000"/>
            <a:ext cx="396000" cy="0"/>
          </a:xfrm>
          <a:prstGeom prst="line">
            <a:avLst/>
          </a:prstGeom>
          <a:noFill/>
          <a:ln w="10795">
            <a:solidFill>
              <a:srgbClr val="E09C95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212000" y="738000"/>
            <a:ext cx="108000" cy="108000"/>
          </a:xfrm>
          <a:prstGeom prst="line">
            <a:avLst/>
          </a:prstGeom>
          <a:noFill/>
          <a:ln w="16510">
            <a:solidFill>
              <a:srgbClr val="C0392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4212000" y="738000"/>
            <a:ext cx="108000" cy="108000"/>
          </a:xfrm>
          <a:prstGeom prst="line">
            <a:avLst/>
          </a:prstGeom>
          <a:noFill/>
          <a:ln w="1651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564000" y="918870"/>
            <a:ext cx="772200" cy="1422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cannot transmit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817622" y="309614"/>
            <a:ext cx="784704" cy="676784"/>
          </a:xfrm>
          <a:custGeom>
            <a:avLst/>
            <a:gdLst/>
            <a:ahLst/>
            <a:cxnLst/>
            <a:rect l="l" t="t" r="r" b="b"/>
            <a:pathLst>
              <a:path w="784704" h="676784">
                <a:moveTo>
                  <a:pt x="87207" y="113148"/>
                </a:moveTo>
                <a:lnTo>
                  <a:pt x="75695" y="117238"/>
                </a:lnTo>
                <a:lnTo>
                  <a:pt x="64647" y="122456"/>
                </a:lnTo>
                <a:lnTo>
                  <a:pt x="54175" y="128749"/>
                </a:lnTo>
                <a:lnTo>
                  <a:pt x="44383" y="136054"/>
                </a:lnTo>
                <a:lnTo>
                  <a:pt x="35367" y="144299"/>
                </a:lnTo>
                <a:lnTo>
                  <a:pt x="27219" y="153402"/>
                </a:lnTo>
                <a:lnTo>
                  <a:pt x="20018" y="163272"/>
                </a:lnTo>
                <a:lnTo>
                  <a:pt x="13838" y="173811"/>
                </a:lnTo>
                <a:lnTo>
                  <a:pt x="8738" y="184914"/>
                </a:lnTo>
                <a:lnTo>
                  <a:pt x="4771" y="196469"/>
                </a:lnTo>
                <a:lnTo>
                  <a:pt x="1976" y="208362"/>
                </a:lnTo>
                <a:lnTo>
                  <a:pt x="380" y="220475"/>
                </a:lnTo>
                <a:lnTo>
                  <a:pt x="0" y="232686"/>
                </a:lnTo>
                <a:lnTo>
                  <a:pt x="839" y="244875"/>
                </a:lnTo>
                <a:lnTo>
                  <a:pt x="2889" y="256919"/>
                </a:lnTo>
                <a:lnTo>
                  <a:pt x="6129" y="268699"/>
                </a:lnTo>
                <a:lnTo>
                  <a:pt x="10528" y="280097"/>
                </a:lnTo>
                <a:lnTo>
                  <a:pt x="154528" y="604097"/>
                </a:lnTo>
                <a:lnTo>
                  <a:pt x="159348" y="613768"/>
                </a:lnTo>
                <a:lnTo>
                  <a:pt x="165003" y="622977"/>
                </a:lnTo>
                <a:lnTo>
                  <a:pt x="171448" y="631651"/>
                </a:lnTo>
                <a:lnTo>
                  <a:pt x="178632" y="639723"/>
                </a:lnTo>
                <a:lnTo>
                  <a:pt x="186501" y="647129"/>
                </a:lnTo>
                <a:lnTo>
                  <a:pt x="194992" y="653813"/>
                </a:lnTo>
                <a:lnTo>
                  <a:pt x="204040" y="659722"/>
                </a:lnTo>
                <a:lnTo>
                  <a:pt x="213574" y="664809"/>
                </a:lnTo>
                <a:lnTo>
                  <a:pt x="223519" y="669036"/>
                </a:lnTo>
                <a:lnTo>
                  <a:pt x="233798" y="672370"/>
                </a:lnTo>
                <a:lnTo>
                  <a:pt x="244331" y="674784"/>
                </a:lnTo>
                <a:lnTo>
                  <a:pt x="255036" y="676259"/>
                </a:lnTo>
                <a:lnTo>
                  <a:pt x="265829" y="676784"/>
                </a:lnTo>
                <a:lnTo>
                  <a:pt x="276627" y="676356"/>
                </a:lnTo>
                <a:lnTo>
                  <a:pt x="287345" y="674977"/>
                </a:lnTo>
                <a:lnTo>
                  <a:pt x="297899" y="672657"/>
                </a:lnTo>
                <a:lnTo>
                  <a:pt x="308208" y="669416"/>
                </a:lnTo>
                <a:lnTo>
                  <a:pt x="704208" y="525416"/>
                </a:lnTo>
                <a:lnTo>
                  <a:pt x="716005" y="520413"/>
                </a:lnTo>
                <a:lnTo>
                  <a:pt x="727215" y="514203"/>
                </a:lnTo>
                <a:lnTo>
                  <a:pt x="737714" y="506855"/>
                </a:lnTo>
                <a:lnTo>
                  <a:pt x="747387" y="498450"/>
                </a:lnTo>
                <a:lnTo>
                  <a:pt x="756128" y="489080"/>
                </a:lnTo>
                <a:lnTo>
                  <a:pt x="763842" y="478847"/>
                </a:lnTo>
                <a:lnTo>
                  <a:pt x="770443" y="467864"/>
                </a:lnTo>
                <a:lnTo>
                  <a:pt x="775861" y="456250"/>
                </a:lnTo>
                <a:lnTo>
                  <a:pt x="780034" y="444134"/>
                </a:lnTo>
                <a:lnTo>
                  <a:pt x="782917" y="431648"/>
                </a:lnTo>
                <a:lnTo>
                  <a:pt x="784480" y="418929"/>
                </a:lnTo>
                <a:lnTo>
                  <a:pt x="784704" y="406116"/>
                </a:lnTo>
                <a:lnTo>
                  <a:pt x="783587" y="393351"/>
                </a:lnTo>
                <a:lnTo>
                  <a:pt x="781142" y="380771"/>
                </a:lnTo>
                <a:lnTo>
                  <a:pt x="777395" y="368517"/>
                </a:lnTo>
                <a:lnTo>
                  <a:pt x="772387" y="356721"/>
                </a:lnTo>
                <a:lnTo>
                  <a:pt x="766173" y="345514"/>
                </a:lnTo>
                <a:lnTo>
                  <a:pt x="586173" y="57514"/>
                </a:lnTo>
                <a:lnTo>
                  <a:pt x="580898" y="49753"/>
                </a:lnTo>
                <a:lnTo>
                  <a:pt x="575044" y="42419"/>
                </a:lnTo>
                <a:lnTo>
                  <a:pt x="568646" y="35554"/>
                </a:lnTo>
                <a:lnTo>
                  <a:pt x="561740" y="29201"/>
                </a:lnTo>
                <a:lnTo>
                  <a:pt x="554368" y="23394"/>
                </a:lnTo>
                <a:lnTo>
                  <a:pt x="546573" y="18170"/>
                </a:lnTo>
                <a:lnTo>
                  <a:pt x="538400" y="13559"/>
                </a:lnTo>
                <a:lnTo>
                  <a:pt x="529898" y="9587"/>
                </a:lnTo>
                <a:lnTo>
                  <a:pt x="521117" y="6278"/>
                </a:lnTo>
                <a:lnTo>
                  <a:pt x="512108" y="3651"/>
                </a:lnTo>
                <a:lnTo>
                  <a:pt x="502924" y="1722"/>
                </a:lnTo>
                <a:lnTo>
                  <a:pt x="493620" y="503"/>
                </a:lnTo>
                <a:lnTo>
                  <a:pt x="484249" y="0"/>
                </a:lnTo>
                <a:lnTo>
                  <a:pt x="474868" y="216"/>
                </a:lnTo>
                <a:lnTo>
                  <a:pt x="465530" y="1151"/>
                </a:lnTo>
                <a:lnTo>
                  <a:pt x="456292" y="2798"/>
                </a:lnTo>
                <a:lnTo>
                  <a:pt x="447207" y="5148"/>
                </a:lnTo>
                <a:close/>
              </a:path>
            </a:pathLst>
          </a:custGeom>
          <a:solidFill>
            <a:srgbClr val="B8BCC0">
              <a:alpha val="18000"/>
            </a:srgbClr>
          </a:solidFill>
          <a:ln w="8890">
            <a:solidFill>
              <a:srgbClr val="B8BC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00400" y="500400"/>
            <a:ext cx="79200" cy="79200"/>
          </a:xfrm>
          <a:prstGeom prst="ellipse">
            <a:avLst/>
          </a:prstGeom>
          <a:solidFill>
            <a:srgbClr val="CEE1F3"/>
          </a:solidFill>
          <a:ln w="6985">
            <a:solidFill>
              <a:srgbClr val="97AFC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0400" y="392400"/>
            <a:ext cx="79200" cy="79200"/>
          </a:xfrm>
          <a:prstGeom prst="ellipse">
            <a:avLst/>
          </a:prstGeom>
          <a:solidFill>
            <a:srgbClr val="CEE1F3"/>
          </a:solidFill>
          <a:ln w="6985">
            <a:solidFill>
              <a:srgbClr val="97AFC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40400" y="680400"/>
            <a:ext cx="79200" cy="79200"/>
          </a:xfrm>
          <a:prstGeom prst="ellipse">
            <a:avLst/>
          </a:prstGeom>
          <a:solidFill>
            <a:srgbClr val="CEE1F3"/>
          </a:solidFill>
          <a:ln w="6985">
            <a:solidFill>
              <a:srgbClr val="97AFC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4400" y="824400"/>
            <a:ext cx="79200" cy="79200"/>
          </a:xfrm>
          <a:prstGeom prst="ellipse">
            <a:avLst/>
          </a:prstGeom>
          <a:solidFill>
            <a:srgbClr val="CEE1F3"/>
          </a:solidFill>
          <a:ln w="6985">
            <a:solidFill>
              <a:srgbClr val="97AFC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837904" y="977085"/>
            <a:ext cx="708192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network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449903" y="653489"/>
            <a:ext cx="414502" cy="147666"/>
          </a:xfrm>
          <a:custGeom>
            <a:avLst/>
            <a:gdLst/>
            <a:ahLst/>
            <a:cxnLst/>
            <a:rect l="l" t="t" r="r" b="b"/>
            <a:pathLst>
              <a:path w="414502" h="147666">
                <a:moveTo>
                  <a:pt x="414502" y="18134"/>
                </a:moveTo>
                <a:quadBezTo>
                  <a:pt x="181345" y="0"/>
                  <a:pt x="0" y="147666"/>
                </a:quadBezTo>
              </a:path>
            </a:pathLst>
          </a:custGeom>
          <a:noFill/>
          <a:ln w="10795">
            <a:solidFill>
              <a:srgbClr val="3D3D3D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5594508" y="395800"/>
            <a:ext cx="186984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" dirty="0"/>
          </a:p>
        </p:txBody>
      </p:sp>
      <p:sp>
        <p:nvSpPr>
          <p:cNvPr id="51" name="Text 49"/>
          <p:cNvSpPr txBox="1"/>
          <p:nvPr/>
        </p:nvSpPr>
        <p:spPr>
          <a:xfrm>
            <a:off x="3564000" y="1418220"/>
            <a:ext cx="2665008" cy="187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70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0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0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joint SIR composition of the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 other members  [Eq. (9)]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3564000" y="1598508"/>
            <a:ext cx="273816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not infected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 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transmitting  [Eqs. (10)–(12)]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3663648" y="1881648"/>
            <a:ext cx="232704" cy="196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78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</a:t>
            </a:r>
            <a:endParaRPr lang="en-US" sz="780" dirty="0"/>
          </a:p>
        </p:txBody>
      </p:sp>
      <p:sp>
        <p:nvSpPr>
          <p:cNvPr id="54" name="Text 52"/>
          <p:cNvSpPr txBox="1"/>
          <p:nvPr/>
        </p:nvSpPr>
        <p:spPr>
          <a:xfrm>
            <a:off x="4365936" y="1907800"/>
            <a:ext cx="196128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" dirty="0"/>
          </a:p>
        </p:txBody>
      </p:sp>
      <p:sp>
        <p:nvSpPr>
          <p:cNvPr id="55" name="Text 53"/>
          <p:cNvSpPr txBox="1"/>
          <p:nvPr/>
        </p:nvSpPr>
        <p:spPr>
          <a:xfrm>
            <a:off x="4968792" y="1907800"/>
            <a:ext cx="214416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" dirty="0"/>
          </a:p>
        </p:txBody>
      </p:sp>
      <p:sp>
        <p:nvSpPr>
          <p:cNvPr id="56" name="Text 54"/>
          <p:cNvSpPr txBox="1"/>
          <p:nvPr/>
        </p:nvSpPr>
        <p:spPr>
          <a:xfrm>
            <a:off x="5548212" y="1904508"/>
            <a:ext cx="351576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(Φ)</a:t>
            </a:r>
            <a:endParaRPr lang="en-US" sz="780" dirty="0"/>
          </a:p>
        </p:txBody>
      </p:sp>
      <p:sp>
        <p:nvSpPr>
          <p:cNvPr id="57" name="Text 55"/>
          <p:cNvSpPr txBox="1"/>
          <p:nvPr/>
        </p:nvSpPr>
        <p:spPr>
          <a:xfrm>
            <a:off x="6314508" y="1907800"/>
            <a:ext cx="186984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3988800" y="1980000"/>
            <a:ext cx="2664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3999790" y="1790685"/>
            <a:ext cx="244420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(11)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672800" y="1980000"/>
            <a:ext cx="1944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4644504" y="1790685"/>
            <a:ext cx="250992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(12)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284800" y="1980000"/>
            <a:ext cx="2304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5301936" y="1790685"/>
            <a:ext cx="196128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932800" y="1980000"/>
            <a:ext cx="2664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65" name="Text 63"/>
          <p:cNvSpPr txBox="1"/>
          <p:nvPr/>
        </p:nvSpPr>
        <p:spPr>
          <a:xfrm>
            <a:off x="5940504" y="1790685"/>
            <a:ext cx="250992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(13)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780000" y="2073600"/>
            <a:ext cx="2628000" cy="578160"/>
          </a:xfrm>
          <a:custGeom>
            <a:avLst/>
            <a:gdLst/>
            <a:ahLst/>
            <a:cxnLst/>
            <a:rect l="l" t="t" r="r" b="b"/>
            <a:pathLst>
              <a:path w="2628000" h="578160">
                <a:moveTo>
                  <a:pt x="2628000" y="0"/>
                </a:moveTo>
                <a:quadBezTo>
                  <a:pt x="1314000" y="578160"/>
                  <a:pt x="0" y="0"/>
                </a:quadBezTo>
              </a:path>
            </a:pathLst>
          </a:cu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4644180" y="2323485"/>
            <a:ext cx="863640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   [Eq. (14)]</a:t>
            </a:r>
            <a:endParaRPr lang="en-US" sz="700" dirty="0"/>
          </a:p>
        </p:txBody>
      </p:sp>
      <p:sp>
        <p:nvSpPr>
          <p:cNvPr id="68" name="Text 66"/>
          <p:cNvSpPr txBox="1"/>
          <p:nvPr/>
        </p:nvSpPr>
        <p:spPr>
          <a:xfrm>
            <a:off x="3564000" y="2534508"/>
            <a:ext cx="2354112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 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  and  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(∞)   [Eqs. (8), (17), (18)]</a:t>
            </a:r>
            <a:endParaRPr lang="en-US" sz="780" dirty="0"/>
          </a:p>
        </p:txBody>
      </p:sp>
      <p:sp>
        <p:nvSpPr>
          <p:cNvPr id="69" name="Text 67"/>
          <p:cNvSpPr txBox="1"/>
          <p:nvPr/>
        </p:nvSpPr>
        <p:spPr>
          <a:xfrm>
            <a:off x="180000" y="2880000"/>
            <a:ext cx="223560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367200" y="2880000"/>
            <a:ext cx="2107224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Rare-infection limit I: within-hyperedge factor </a:t>
            </a:r>
            <a:pPr algn="l" indent="0" marL="0">
              <a:buNone/>
            </a:pPr>
            <a:r>
              <a:rPr lang="en-US" sz="7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750" i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180000" y="3260951"/>
            <a:ext cx="315000" cy="2820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1044146" y="3006146"/>
            <a:ext cx="791708" cy="791708"/>
          </a:xfrm>
          <a:custGeom>
            <a:avLst/>
            <a:gdLst/>
            <a:ahLst/>
            <a:cxnLst/>
            <a:rect l="l" t="t" r="r" b="b"/>
            <a:pathLst>
              <a:path w="791708" h="791708">
                <a:moveTo>
                  <a:pt x="39922" y="299122"/>
                </a:moveTo>
                <a:lnTo>
                  <a:pt x="31409" y="308460"/>
                </a:lnTo>
                <a:lnTo>
                  <a:pt x="23794" y="318543"/>
                </a:lnTo>
                <a:lnTo>
                  <a:pt x="17142" y="329287"/>
                </a:lnTo>
                <a:lnTo>
                  <a:pt x="11510" y="340598"/>
                </a:lnTo>
                <a:lnTo>
                  <a:pt x="6946" y="352380"/>
                </a:lnTo>
                <a:lnTo>
                  <a:pt x="3488" y="364534"/>
                </a:lnTo>
                <a:lnTo>
                  <a:pt x="1166" y="376954"/>
                </a:lnTo>
                <a:lnTo>
                  <a:pt x="0" y="389536"/>
                </a:lnTo>
                <a:lnTo>
                  <a:pt x="0" y="402172"/>
                </a:lnTo>
                <a:lnTo>
                  <a:pt x="1166" y="414754"/>
                </a:lnTo>
                <a:lnTo>
                  <a:pt x="3488" y="427174"/>
                </a:lnTo>
                <a:lnTo>
                  <a:pt x="6946" y="439328"/>
                </a:lnTo>
                <a:lnTo>
                  <a:pt x="11510" y="451110"/>
                </a:lnTo>
                <a:lnTo>
                  <a:pt x="17142" y="462422"/>
                </a:lnTo>
                <a:lnTo>
                  <a:pt x="23794" y="473165"/>
                </a:lnTo>
                <a:lnTo>
                  <a:pt x="31409" y="483248"/>
                </a:lnTo>
                <a:lnTo>
                  <a:pt x="39922" y="492586"/>
                </a:lnTo>
                <a:lnTo>
                  <a:pt x="299122" y="751786"/>
                </a:lnTo>
                <a:lnTo>
                  <a:pt x="308460" y="760299"/>
                </a:lnTo>
                <a:lnTo>
                  <a:pt x="318543" y="767914"/>
                </a:lnTo>
                <a:lnTo>
                  <a:pt x="329287" y="774566"/>
                </a:lnTo>
                <a:lnTo>
                  <a:pt x="340598" y="780198"/>
                </a:lnTo>
                <a:lnTo>
                  <a:pt x="352380" y="784762"/>
                </a:lnTo>
                <a:lnTo>
                  <a:pt x="364534" y="788220"/>
                </a:lnTo>
                <a:lnTo>
                  <a:pt x="376954" y="790542"/>
                </a:lnTo>
                <a:lnTo>
                  <a:pt x="389536" y="791708"/>
                </a:lnTo>
                <a:lnTo>
                  <a:pt x="402172" y="791708"/>
                </a:lnTo>
                <a:lnTo>
                  <a:pt x="414754" y="790542"/>
                </a:lnTo>
                <a:lnTo>
                  <a:pt x="427174" y="788220"/>
                </a:lnTo>
                <a:lnTo>
                  <a:pt x="439328" y="784762"/>
                </a:lnTo>
                <a:lnTo>
                  <a:pt x="451110" y="780198"/>
                </a:lnTo>
                <a:lnTo>
                  <a:pt x="462422" y="774566"/>
                </a:lnTo>
                <a:lnTo>
                  <a:pt x="473165" y="767914"/>
                </a:lnTo>
                <a:lnTo>
                  <a:pt x="483248" y="760299"/>
                </a:lnTo>
                <a:lnTo>
                  <a:pt x="492586" y="751786"/>
                </a:lnTo>
                <a:lnTo>
                  <a:pt x="751786" y="492586"/>
                </a:lnTo>
                <a:lnTo>
                  <a:pt x="760299" y="483248"/>
                </a:lnTo>
                <a:lnTo>
                  <a:pt x="767914" y="473165"/>
                </a:lnTo>
                <a:lnTo>
                  <a:pt x="774566" y="462422"/>
                </a:lnTo>
                <a:lnTo>
                  <a:pt x="780198" y="451110"/>
                </a:lnTo>
                <a:lnTo>
                  <a:pt x="784762" y="439328"/>
                </a:lnTo>
                <a:lnTo>
                  <a:pt x="788220" y="427174"/>
                </a:lnTo>
                <a:lnTo>
                  <a:pt x="790542" y="414754"/>
                </a:lnTo>
                <a:lnTo>
                  <a:pt x="791708" y="402172"/>
                </a:lnTo>
                <a:lnTo>
                  <a:pt x="791708" y="389536"/>
                </a:lnTo>
                <a:lnTo>
                  <a:pt x="790542" y="376954"/>
                </a:lnTo>
                <a:lnTo>
                  <a:pt x="788220" y="364534"/>
                </a:lnTo>
                <a:lnTo>
                  <a:pt x="784762" y="352380"/>
                </a:lnTo>
                <a:lnTo>
                  <a:pt x="780198" y="340598"/>
                </a:lnTo>
                <a:lnTo>
                  <a:pt x="774566" y="329287"/>
                </a:lnTo>
                <a:lnTo>
                  <a:pt x="767914" y="318543"/>
                </a:lnTo>
                <a:lnTo>
                  <a:pt x="760299" y="308460"/>
                </a:lnTo>
                <a:lnTo>
                  <a:pt x="751786" y="299122"/>
                </a:lnTo>
                <a:lnTo>
                  <a:pt x="492586" y="39922"/>
                </a:lnTo>
                <a:lnTo>
                  <a:pt x="483248" y="31409"/>
                </a:lnTo>
                <a:lnTo>
                  <a:pt x="473165" y="23794"/>
                </a:lnTo>
                <a:lnTo>
                  <a:pt x="462422" y="17142"/>
                </a:lnTo>
                <a:lnTo>
                  <a:pt x="451110" y="11510"/>
                </a:lnTo>
                <a:lnTo>
                  <a:pt x="439328" y="6946"/>
                </a:lnTo>
                <a:lnTo>
                  <a:pt x="427174" y="3488"/>
                </a:lnTo>
                <a:lnTo>
                  <a:pt x="414754" y="1166"/>
                </a:lnTo>
                <a:lnTo>
                  <a:pt x="402172" y="0"/>
                </a:lnTo>
                <a:lnTo>
                  <a:pt x="389536" y="0"/>
                </a:lnTo>
                <a:lnTo>
                  <a:pt x="376954" y="1166"/>
                </a:lnTo>
                <a:lnTo>
                  <a:pt x="364534" y="3488"/>
                </a:lnTo>
                <a:lnTo>
                  <a:pt x="352380" y="6946"/>
                </a:lnTo>
                <a:lnTo>
                  <a:pt x="340598" y="11510"/>
                </a:lnTo>
                <a:lnTo>
                  <a:pt x="329287" y="17142"/>
                </a:lnTo>
                <a:lnTo>
                  <a:pt x="318543" y="23794"/>
                </a:lnTo>
                <a:lnTo>
                  <a:pt x="308460" y="31409"/>
                </a:lnTo>
                <a:lnTo>
                  <a:pt x="299122" y="39922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25000" y="3346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43400" y="3346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84200" y="36054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384200" y="3087000"/>
            <a:ext cx="111600" cy="1116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>
            <a:off x="1255895" y="3194984"/>
            <a:ext cx="131921" cy="131921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1492184" y="3194984"/>
            <a:ext cx="131921" cy="131921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1440000" y="3216600"/>
            <a:ext cx="0" cy="338400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80" name="Text 78"/>
          <p:cNvSpPr txBox="1"/>
          <p:nvPr/>
        </p:nvSpPr>
        <p:spPr>
          <a:xfrm>
            <a:off x="2088000" y="3326508"/>
            <a:ext cx="616752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−1) 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80" dirty="0"/>
          </a:p>
        </p:txBody>
      </p:sp>
      <p:sp>
        <p:nvSpPr>
          <p:cNvPr id="81" name="Text 79"/>
          <p:cNvSpPr txBox="1"/>
          <p:nvPr/>
        </p:nvSpPr>
        <p:spPr>
          <a:xfrm>
            <a:off x="180000" y="3926951"/>
            <a:ext cx="525312" cy="2820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720" dirty="0"/>
          </a:p>
        </p:txBody>
      </p:sp>
      <p:sp>
        <p:nvSpPr>
          <p:cNvPr id="82" name="Shape 80"/>
          <p:cNvSpPr/>
          <p:nvPr/>
        </p:nvSpPr>
        <p:spPr>
          <a:xfrm>
            <a:off x="784915" y="3772915"/>
            <a:ext cx="590170" cy="590170"/>
          </a:xfrm>
          <a:custGeom>
            <a:avLst/>
            <a:gdLst/>
            <a:ahLst/>
            <a:cxnLst/>
            <a:rect l="l" t="t" r="r" b="b"/>
            <a:pathLst>
              <a:path w="590170" h="590170">
                <a:moveTo>
                  <a:pt x="31517" y="218717"/>
                </a:moveTo>
                <a:lnTo>
                  <a:pt x="24797" y="226089"/>
                </a:lnTo>
                <a:lnTo>
                  <a:pt x="18785" y="234050"/>
                </a:lnTo>
                <a:lnTo>
                  <a:pt x="13534" y="242531"/>
                </a:lnTo>
                <a:lnTo>
                  <a:pt x="9087" y="251461"/>
                </a:lnTo>
                <a:lnTo>
                  <a:pt x="5483" y="260763"/>
                </a:lnTo>
                <a:lnTo>
                  <a:pt x="2753" y="270358"/>
                </a:lnTo>
                <a:lnTo>
                  <a:pt x="920" y="280164"/>
                </a:lnTo>
                <a:lnTo>
                  <a:pt x="0" y="290097"/>
                </a:lnTo>
                <a:lnTo>
                  <a:pt x="0" y="300073"/>
                </a:lnTo>
                <a:lnTo>
                  <a:pt x="920" y="310006"/>
                </a:lnTo>
                <a:lnTo>
                  <a:pt x="2753" y="319811"/>
                </a:lnTo>
                <a:lnTo>
                  <a:pt x="5483" y="329406"/>
                </a:lnTo>
                <a:lnTo>
                  <a:pt x="9087" y="338708"/>
                </a:lnTo>
                <a:lnTo>
                  <a:pt x="13534" y="347638"/>
                </a:lnTo>
                <a:lnTo>
                  <a:pt x="18785" y="356119"/>
                </a:lnTo>
                <a:lnTo>
                  <a:pt x="24797" y="364080"/>
                </a:lnTo>
                <a:lnTo>
                  <a:pt x="31517" y="371452"/>
                </a:lnTo>
                <a:lnTo>
                  <a:pt x="218717" y="558652"/>
                </a:lnTo>
                <a:lnTo>
                  <a:pt x="226089" y="565373"/>
                </a:lnTo>
                <a:lnTo>
                  <a:pt x="234050" y="571384"/>
                </a:lnTo>
                <a:lnTo>
                  <a:pt x="242531" y="576636"/>
                </a:lnTo>
                <a:lnTo>
                  <a:pt x="251461" y="581082"/>
                </a:lnTo>
                <a:lnTo>
                  <a:pt x="260763" y="584686"/>
                </a:lnTo>
                <a:lnTo>
                  <a:pt x="270358" y="587416"/>
                </a:lnTo>
                <a:lnTo>
                  <a:pt x="280164" y="589249"/>
                </a:lnTo>
                <a:lnTo>
                  <a:pt x="290097" y="590170"/>
                </a:lnTo>
                <a:lnTo>
                  <a:pt x="300073" y="590170"/>
                </a:lnTo>
                <a:lnTo>
                  <a:pt x="310006" y="589249"/>
                </a:lnTo>
                <a:lnTo>
                  <a:pt x="319811" y="587416"/>
                </a:lnTo>
                <a:lnTo>
                  <a:pt x="329406" y="584686"/>
                </a:lnTo>
                <a:lnTo>
                  <a:pt x="338708" y="581082"/>
                </a:lnTo>
                <a:lnTo>
                  <a:pt x="347638" y="576636"/>
                </a:lnTo>
                <a:lnTo>
                  <a:pt x="356119" y="571384"/>
                </a:lnTo>
                <a:lnTo>
                  <a:pt x="364080" y="565373"/>
                </a:lnTo>
                <a:lnTo>
                  <a:pt x="371452" y="558652"/>
                </a:lnTo>
                <a:lnTo>
                  <a:pt x="558652" y="371452"/>
                </a:lnTo>
                <a:lnTo>
                  <a:pt x="565373" y="364080"/>
                </a:lnTo>
                <a:lnTo>
                  <a:pt x="571384" y="356119"/>
                </a:lnTo>
                <a:lnTo>
                  <a:pt x="576636" y="347638"/>
                </a:lnTo>
                <a:lnTo>
                  <a:pt x="581082" y="338708"/>
                </a:lnTo>
                <a:lnTo>
                  <a:pt x="584686" y="329406"/>
                </a:lnTo>
                <a:lnTo>
                  <a:pt x="587416" y="319811"/>
                </a:lnTo>
                <a:lnTo>
                  <a:pt x="589249" y="310006"/>
                </a:lnTo>
                <a:lnTo>
                  <a:pt x="590170" y="300073"/>
                </a:lnTo>
                <a:lnTo>
                  <a:pt x="590170" y="290097"/>
                </a:lnTo>
                <a:lnTo>
                  <a:pt x="589249" y="280164"/>
                </a:lnTo>
                <a:lnTo>
                  <a:pt x="587416" y="270358"/>
                </a:lnTo>
                <a:lnTo>
                  <a:pt x="584686" y="260763"/>
                </a:lnTo>
                <a:lnTo>
                  <a:pt x="581082" y="251461"/>
                </a:lnTo>
                <a:lnTo>
                  <a:pt x="576636" y="242531"/>
                </a:lnTo>
                <a:lnTo>
                  <a:pt x="571384" y="234050"/>
                </a:lnTo>
                <a:lnTo>
                  <a:pt x="565373" y="226089"/>
                </a:lnTo>
                <a:lnTo>
                  <a:pt x="558652" y="218717"/>
                </a:lnTo>
                <a:lnTo>
                  <a:pt x="371452" y="31517"/>
                </a:lnTo>
                <a:lnTo>
                  <a:pt x="364080" y="24797"/>
                </a:lnTo>
                <a:lnTo>
                  <a:pt x="356119" y="18785"/>
                </a:lnTo>
                <a:lnTo>
                  <a:pt x="347638" y="13534"/>
                </a:lnTo>
                <a:lnTo>
                  <a:pt x="338708" y="9087"/>
                </a:lnTo>
                <a:lnTo>
                  <a:pt x="329406" y="5483"/>
                </a:lnTo>
                <a:lnTo>
                  <a:pt x="319811" y="2753"/>
                </a:lnTo>
                <a:lnTo>
                  <a:pt x="310006" y="920"/>
                </a:lnTo>
                <a:lnTo>
                  <a:pt x="300073" y="0"/>
                </a:lnTo>
                <a:lnTo>
                  <a:pt x="290097" y="0"/>
                </a:lnTo>
                <a:lnTo>
                  <a:pt x="280164" y="920"/>
                </a:lnTo>
                <a:lnTo>
                  <a:pt x="270358" y="2753"/>
                </a:lnTo>
                <a:lnTo>
                  <a:pt x="260763" y="5483"/>
                </a:lnTo>
                <a:lnTo>
                  <a:pt x="251461" y="9087"/>
                </a:lnTo>
                <a:lnTo>
                  <a:pt x="242531" y="13534"/>
                </a:lnTo>
                <a:lnTo>
                  <a:pt x="234050" y="18785"/>
                </a:lnTo>
                <a:lnTo>
                  <a:pt x="226089" y="24797"/>
                </a:lnTo>
                <a:lnTo>
                  <a:pt x="218717" y="31517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27800" y="3828600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40600" y="4015800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27800" y="4203000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215000" y="4015800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28366" y="3929166"/>
            <a:ext cx="77740" cy="77740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1576915" y="3772915"/>
            <a:ext cx="590170" cy="590170"/>
          </a:xfrm>
          <a:custGeom>
            <a:avLst/>
            <a:gdLst/>
            <a:ahLst/>
            <a:cxnLst/>
            <a:rect l="l" t="t" r="r" b="b"/>
            <a:pathLst>
              <a:path w="590170" h="590170">
                <a:moveTo>
                  <a:pt x="31517" y="218717"/>
                </a:moveTo>
                <a:lnTo>
                  <a:pt x="24797" y="226089"/>
                </a:lnTo>
                <a:lnTo>
                  <a:pt x="18785" y="234050"/>
                </a:lnTo>
                <a:lnTo>
                  <a:pt x="13534" y="242531"/>
                </a:lnTo>
                <a:lnTo>
                  <a:pt x="9087" y="251461"/>
                </a:lnTo>
                <a:lnTo>
                  <a:pt x="5483" y="260763"/>
                </a:lnTo>
                <a:lnTo>
                  <a:pt x="2753" y="270358"/>
                </a:lnTo>
                <a:lnTo>
                  <a:pt x="920" y="280164"/>
                </a:lnTo>
                <a:lnTo>
                  <a:pt x="0" y="290097"/>
                </a:lnTo>
                <a:lnTo>
                  <a:pt x="0" y="300073"/>
                </a:lnTo>
                <a:lnTo>
                  <a:pt x="920" y="310006"/>
                </a:lnTo>
                <a:lnTo>
                  <a:pt x="2753" y="319811"/>
                </a:lnTo>
                <a:lnTo>
                  <a:pt x="5483" y="329406"/>
                </a:lnTo>
                <a:lnTo>
                  <a:pt x="9087" y="338708"/>
                </a:lnTo>
                <a:lnTo>
                  <a:pt x="13534" y="347638"/>
                </a:lnTo>
                <a:lnTo>
                  <a:pt x="18785" y="356119"/>
                </a:lnTo>
                <a:lnTo>
                  <a:pt x="24797" y="364080"/>
                </a:lnTo>
                <a:lnTo>
                  <a:pt x="31517" y="371452"/>
                </a:lnTo>
                <a:lnTo>
                  <a:pt x="218717" y="558652"/>
                </a:lnTo>
                <a:lnTo>
                  <a:pt x="226089" y="565373"/>
                </a:lnTo>
                <a:lnTo>
                  <a:pt x="234050" y="571384"/>
                </a:lnTo>
                <a:lnTo>
                  <a:pt x="242531" y="576636"/>
                </a:lnTo>
                <a:lnTo>
                  <a:pt x="251461" y="581082"/>
                </a:lnTo>
                <a:lnTo>
                  <a:pt x="260763" y="584686"/>
                </a:lnTo>
                <a:lnTo>
                  <a:pt x="270358" y="587416"/>
                </a:lnTo>
                <a:lnTo>
                  <a:pt x="280164" y="589249"/>
                </a:lnTo>
                <a:lnTo>
                  <a:pt x="290097" y="590170"/>
                </a:lnTo>
                <a:lnTo>
                  <a:pt x="300073" y="590170"/>
                </a:lnTo>
                <a:lnTo>
                  <a:pt x="310006" y="589249"/>
                </a:lnTo>
                <a:lnTo>
                  <a:pt x="319811" y="587416"/>
                </a:lnTo>
                <a:lnTo>
                  <a:pt x="329406" y="584686"/>
                </a:lnTo>
                <a:lnTo>
                  <a:pt x="338708" y="581082"/>
                </a:lnTo>
                <a:lnTo>
                  <a:pt x="347638" y="576636"/>
                </a:lnTo>
                <a:lnTo>
                  <a:pt x="356119" y="571384"/>
                </a:lnTo>
                <a:lnTo>
                  <a:pt x="364080" y="565373"/>
                </a:lnTo>
                <a:lnTo>
                  <a:pt x="371452" y="558652"/>
                </a:lnTo>
                <a:lnTo>
                  <a:pt x="558652" y="371452"/>
                </a:lnTo>
                <a:lnTo>
                  <a:pt x="565373" y="364080"/>
                </a:lnTo>
                <a:lnTo>
                  <a:pt x="571384" y="356119"/>
                </a:lnTo>
                <a:lnTo>
                  <a:pt x="576636" y="347638"/>
                </a:lnTo>
                <a:lnTo>
                  <a:pt x="581082" y="338708"/>
                </a:lnTo>
                <a:lnTo>
                  <a:pt x="584686" y="329406"/>
                </a:lnTo>
                <a:lnTo>
                  <a:pt x="587416" y="319811"/>
                </a:lnTo>
                <a:lnTo>
                  <a:pt x="589249" y="310006"/>
                </a:lnTo>
                <a:lnTo>
                  <a:pt x="590170" y="300073"/>
                </a:lnTo>
                <a:lnTo>
                  <a:pt x="590170" y="290097"/>
                </a:lnTo>
                <a:lnTo>
                  <a:pt x="589249" y="280164"/>
                </a:lnTo>
                <a:lnTo>
                  <a:pt x="587416" y="270358"/>
                </a:lnTo>
                <a:lnTo>
                  <a:pt x="584686" y="260763"/>
                </a:lnTo>
                <a:lnTo>
                  <a:pt x="581082" y="251461"/>
                </a:lnTo>
                <a:lnTo>
                  <a:pt x="576636" y="242531"/>
                </a:lnTo>
                <a:lnTo>
                  <a:pt x="571384" y="234050"/>
                </a:lnTo>
                <a:lnTo>
                  <a:pt x="565373" y="226089"/>
                </a:lnTo>
                <a:lnTo>
                  <a:pt x="558652" y="218717"/>
                </a:lnTo>
                <a:lnTo>
                  <a:pt x="371452" y="31517"/>
                </a:lnTo>
                <a:lnTo>
                  <a:pt x="364080" y="24797"/>
                </a:lnTo>
                <a:lnTo>
                  <a:pt x="356119" y="18785"/>
                </a:lnTo>
                <a:lnTo>
                  <a:pt x="347638" y="13534"/>
                </a:lnTo>
                <a:lnTo>
                  <a:pt x="338708" y="9087"/>
                </a:lnTo>
                <a:lnTo>
                  <a:pt x="329406" y="5483"/>
                </a:lnTo>
                <a:lnTo>
                  <a:pt x="319811" y="2753"/>
                </a:lnTo>
                <a:lnTo>
                  <a:pt x="310006" y="920"/>
                </a:lnTo>
                <a:lnTo>
                  <a:pt x="300073" y="0"/>
                </a:lnTo>
                <a:lnTo>
                  <a:pt x="290097" y="0"/>
                </a:lnTo>
                <a:lnTo>
                  <a:pt x="280164" y="920"/>
                </a:lnTo>
                <a:lnTo>
                  <a:pt x="270358" y="2753"/>
                </a:lnTo>
                <a:lnTo>
                  <a:pt x="260763" y="5483"/>
                </a:lnTo>
                <a:lnTo>
                  <a:pt x="251461" y="9087"/>
                </a:lnTo>
                <a:lnTo>
                  <a:pt x="242531" y="13534"/>
                </a:lnTo>
                <a:lnTo>
                  <a:pt x="234050" y="18785"/>
                </a:lnTo>
                <a:lnTo>
                  <a:pt x="226089" y="24797"/>
                </a:lnTo>
                <a:lnTo>
                  <a:pt x="218717" y="31517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819800" y="3828600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632600" y="4015800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819800" y="4203000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007000" y="4015800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733166" y="4116366"/>
            <a:ext cx="77740" cy="77740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2368915" y="3772915"/>
            <a:ext cx="590170" cy="590170"/>
          </a:xfrm>
          <a:custGeom>
            <a:avLst/>
            <a:gdLst/>
            <a:ahLst/>
            <a:cxnLst/>
            <a:rect l="l" t="t" r="r" b="b"/>
            <a:pathLst>
              <a:path w="590170" h="590170">
                <a:moveTo>
                  <a:pt x="31517" y="218717"/>
                </a:moveTo>
                <a:lnTo>
                  <a:pt x="24797" y="226089"/>
                </a:lnTo>
                <a:lnTo>
                  <a:pt x="18785" y="234050"/>
                </a:lnTo>
                <a:lnTo>
                  <a:pt x="13534" y="242531"/>
                </a:lnTo>
                <a:lnTo>
                  <a:pt x="9087" y="251461"/>
                </a:lnTo>
                <a:lnTo>
                  <a:pt x="5483" y="260763"/>
                </a:lnTo>
                <a:lnTo>
                  <a:pt x="2753" y="270358"/>
                </a:lnTo>
                <a:lnTo>
                  <a:pt x="920" y="280164"/>
                </a:lnTo>
                <a:lnTo>
                  <a:pt x="0" y="290097"/>
                </a:lnTo>
                <a:lnTo>
                  <a:pt x="0" y="300073"/>
                </a:lnTo>
                <a:lnTo>
                  <a:pt x="920" y="310006"/>
                </a:lnTo>
                <a:lnTo>
                  <a:pt x="2753" y="319811"/>
                </a:lnTo>
                <a:lnTo>
                  <a:pt x="5483" y="329406"/>
                </a:lnTo>
                <a:lnTo>
                  <a:pt x="9087" y="338708"/>
                </a:lnTo>
                <a:lnTo>
                  <a:pt x="13534" y="347638"/>
                </a:lnTo>
                <a:lnTo>
                  <a:pt x="18785" y="356119"/>
                </a:lnTo>
                <a:lnTo>
                  <a:pt x="24797" y="364080"/>
                </a:lnTo>
                <a:lnTo>
                  <a:pt x="31517" y="371452"/>
                </a:lnTo>
                <a:lnTo>
                  <a:pt x="218717" y="558652"/>
                </a:lnTo>
                <a:lnTo>
                  <a:pt x="226089" y="565373"/>
                </a:lnTo>
                <a:lnTo>
                  <a:pt x="234050" y="571384"/>
                </a:lnTo>
                <a:lnTo>
                  <a:pt x="242531" y="576636"/>
                </a:lnTo>
                <a:lnTo>
                  <a:pt x="251461" y="581082"/>
                </a:lnTo>
                <a:lnTo>
                  <a:pt x="260763" y="584686"/>
                </a:lnTo>
                <a:lnTo>
                  <a:pt x="270358" y="587416"/>
                </a:lnTo>
                <a:lnTo>
                  <a:pt x="280164" y="589249"/>
                </a:lnTo>
                <a:lnTo>
                  <a:pt x="290097" y="590170"/>
                </a:lnTo>
                <a:lnTo>
                  <a:pt x="300073" y="590170"/>
                </a:lnTo>
                <a:lnTo>
                  <a:pt x="310006" y="589249"/>
                </a:lnTo>
                <a:lnTo>
                  <a:pt x="319811" y="587416"/>
                </a:lnTo>
                <a:lnTo>
                  <a:pt x="329406" y="584686"/>
                </a:lnTo>
                <a:lnTo>
                  <a:pt x="338708" y="581082"/>
                </a:lnTo>
                <a:lnTo>
                  <a:pt x="347638" y="576636"/>
                </a:lnTo>
                <a:lnTo>
                  <a:pt x="356119" y="571384"/>
                </a:lnTo>
                <a:lnTo>
                  <a:pt x="364080" y="565373"/>
                </a:lnTo>
                <a:lnTo>
                  <a:pt x="371452" y="558652"/>
                </a:lnTo>
                <a:lnTo>
                  <a:pt x="558652" y="371452"/>
                </a:lnTo>
                <a:lnTo>
                  <a:pt x="565373" y="364080"/>
                </a:lnTo>
                <a:lnTo>
                  <a:pt x="571384" y="356119"/>
                </a:lnTo>
                <a:lnTo>
                  <a:pt x="576636" y="347638"/>
                </a:lnTo>
                <a:lnTo>
                  <a:pt x="581082" y="338708"/>
                </a:lnTo>
                <a:lnTo>
                  <a:pt x="584686" y="329406"/>
                </a:lnTo>
                <a:lnTo>
                  <a:pt x="587416" y="319811"/>
                </a:lnTo>
                <a:lnTo>
                  <a:pt x="589249" y="310006"/>
                </a:lnTo>
                <a:lnTo>
                  <a:pt x="590170" y="300073"/>
                </a:lnTo>
                <a:lnTo>
                  <a:pt x="590170" y="290097"/>
                </a:lnTo>
                <a:lnTo>
                  <a:pt x="589249" y="280164"/>
                </a:lnTo>
                <a:lnTo>
                  <a:pt x="587416" y="270358"/>
                </a:lnTo>
                <a:lnTo>
                  <a:pt x="584686" y="260763"/>
                </a:lnTo>
                <a:lnTo>
                  <a:pt x="581082" y="251461"/>
                </a:lnTo>
                <a:lnTo>
                  <a:pt x="576636" y="242531"/>
                </a:lnTo>
                <a:lnTo>
                  <a:pt x="571384" y="234050"/>
                </a:lnTo>
                <a:lnTo>
                  <a:pt x="565373" y="226089"/>
                </a:lnTo>
                <a:lnTo>
                  <a:pt x="558652" y="218717"/>
                </a:lnTo>
                <a:lnTo>
                  <a:pt x="371452" y="31517"/>
                </a:lnTo>
                <a:lnTo>
                  <a:pt x="364080" y="24797"/>
                </a:lnTo>
                <a:lnTo>
                  <a:pt x="356119" y="18785"/>
                </a:lnTo>
                <a:lnTo>
                  <a:pt x="347638" y="13534"/>
                </a:lnTo>
                <a:lnTo>
                  <a:pt x="338708" y="9087"/>
                </a:lnTo>
                <a:lnTo>
                  <a:pt x="329406" y="5483"/>
                </a:lnTo>
                <a:lnTo>
                  <a:pt x="319811" y="2753"/>
                </a:lnTo>
                <a:lnTo>
                  <a:pt x="310006" y="920"/>
                </a:lnTo>
                <a:lnTo>
                  <a:pt x="300073" y="0"/>
                </a:lnTo>
                <a:lnTo>
                  <a:pt x="290097" y="0"/>
                </a:lnTo>
                <a:lnTo>
                  <a:pt x="280164" y="920"/>
                </a:lnTo>
                <a:lnTo>
                  <a:pt x="270358" y="2753"/>
                </a:lnTo>
                <a:lnTo>
                  <a:pt x="260763" y="5483"/>
                </a:lnTo>
                <a:lnTo>
                  <a:pt x="251461" y="9087"/>
                </a:lnTo>
                <a:lnTo>
                  <a:pt x="242531" y="13534"/>
                </a:lnTo>
                <a:lnTo>
                  <a:pt x="234050" y="18785"/>
                </a:lnTo>
                <a:lnTo>
                  <a:pt x="226089" y="24797"/>
                </a:lnTo>
                <a:lnTo>
                  <a:pt x="218717" y="31517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611800" y="3828600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424600" y="4015800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611800" y="4203000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99000" y="4015800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12772" y="4334508"/>
            <a:ext cx="534456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(1, 3)</a:t>
            </a:r>
            <a:endParaRPr lang="en-US" sz="700" dirty="0"/>
          </a:p>
        </p:txBody>
      </p:sp>
      <p:sp>
        <p:nvSpPr>
          <p:cNvPr id="100" name="Text 98"/>
          <p:cNvSpPr txBox="1"/>
          <p:nvPr/>
        </p:nvSpPr>
        <p:spPr>
          <a:xfrm>
            <a:off x="1604772" y="4334508"/>
            <a:ext cx="534456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(2, 2)</a:t>
            </a:r>
            <a:endParaRPr lang="en-US" sz="700" dirty="0"/>
          </a:p>
        </p:txBody>
      </p:sp>
      <p:sp>
        <p:nvSpPr>
          <p:cNvPr id="101" name="Text 99"/>
          <p:cNvSpPr txBox="1"/>
          <p:nvPr/>
        </p:nvSpPr>
        <p:spPr>
          <a:xfrm>
            <a:off x="2396772" y="4334508"/>
            <a:ext cx="534456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(3, 1)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1411200" y="4068000"/>
            <a:ext cx="1296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2203200" y="4068000"/>
            <a:ext cx="1296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04" name="Text 102"/>
          <p:cNvSpPr txBox="1"/>
          <p:nvPr/>
        </p:nvSpPr>
        <p:spPr>
          <a:xfrm>
            <a:off x="3024000" y="3995800"/>
            <a:ext cx="315000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80" dirty="0"/>
          </a:p>
        </p:txBody>
      </p:sp>
      <p:sp>
        <p:nvSpPr>
          <p:cNvPr id="105" name="Shape 103"/>
          <p:cNvSpPr/>
          <p:nvPr/>
        </p:nvSpPr>
        <p:spPr>
          <a:xfrm>
            <a:off x="936000" y="4626000"/>
            <a:ext cx="720000" cy="0"/>
          </a:xfrm>
          <a:prstGeom prst="line">
            <a:avLst/>
          </a:prstGeom>
          <a:noFill/>
          <a:ln w="2413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1656000" y="4586400"/>
            <a:ext cx="0" cy="79200"/>
          </a:xfrm>
          <a:prstGeom prst="line">
            <a:avLst/>
          </a:prstGeom>
          <a:noFill/>
          <a:ln w="8890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36000" y="4788000"/>
            <a:ext cx="720000" cy="0"/>
          </a:xfrm>
          <a:prstGeom prst="line">
            <a:avLst/>
          </a:prstGeom>
          <a:noFill/>
          <a:ln w="24130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1656000" y="4748400"/>
            <a:ext cx="0" cy="79200"/>
          </a:xfrm>
          <a:prstGeom prst="line">
            <a:avLst/>
          </a:prstGeom>
          <a:noFill/>
          <a:ln w="8890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656000" y="4788000"/>
            <a:ext cx="576000" cy="0"/>
          </a:xfrm>
          <a:prstGeom prst="line">
            <a:avLst/>
          </a:prstGeom>
          <a:noFill/>
          <a:ln w="24130">
            <a:solidFill>
              <a:srgbClr val="C0392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2232000" y="4748400"/>
            <a:ext cx="0" cy="79200"/>
          </a:xfrm>
          <a:prstGeom prst="line">
            <a:avLst/>
          </a:prstGeom>
          <a:noFill/>
          <a:ln w="8890">
            <a:solidFill>
              <a:srgbClr val="C0392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936000" y="4586400"/>
            <a:ext cx="0" cy="241200"/>
          </a:xfrm>
          <a:prstGeom prst="line">
            <a:avLst/>
          </a:prstGeom>
          <a:noFill/>
          <a:ln w="8890">
            <a:solidFill>
              <a:srgbClr val="777777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180000" y="4559085"/>
            <a:ext cx="315000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700" dirty="0"/>
          </a:p>
        </p:txBody>
      </p:sp>
      <p:sp>
        <p:nvSpPr>
          <p:cNvPr id="113" name="Text 111"/>
          <p:cNvSpPr txBox="1"/>
          <p:nvPr/>
        </p:nvSpPr>
        <p:spPr>
          <a:xfrm>
            <a:off x="180000" y="4721085"/>
            <a:ext cx="525312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700" dirty="0"/>
          </a:p>
        </p:txBody>
      </p:sp>
      <p:sp>
        <p:nvSpPr>
          <p:cNvPr id="114" name="Text 112"/>
          <p:cNvSpPr txBox="1"/>
          <p:nvPr/>
        </p:nvSpPr>
        <p:spPr>
          <a:xfrm>
            <a:off x="2304000" y="4721085"/>
            <a:ext cx="497880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</a:t>
            </a:r>
            <a:endParaRPr lang="en-US" sz="700" dirty="0"/>
          </a:p>
        </p:txBody>
      </p:sp>
      <p:sp>
        <p:nvSpPr>
          <p:cNvPr id="115" name="Text 113"/>
          <p:cNvSpPr txBox="1"/>
          <p:nvPr/>
        </p:nvSpPr>
        <p:spPr>
          <a:xfrm>
            <a:off x="936000" y="4878870"/>
            <a:ext cx="1714032" cy="1422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with at least one infectious node in </a:t>
            </a:r>
            <a:pPr algn="l" indent="0" marL="0">
              <a:buNone/>
            </a:pPr>
            <a:r>
              <a:rPr lang="en-US" sz="700" i="1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700" dirty="0"/>
          </a:p>
        </p:txBody>
      </p:sp>
      <p:sp>
        <p:nvSpPr>
          <p:cNvPr id="116" name="Text 114"/>
          <p:cNvSpPr txBox="1"/>
          <p:nvPr/>
        </p:nvSpPr>
        <p:spPr>
          <a:xfrm>
            <a:off x="689256" y="5054508"/>
            <a:ext cx="1933488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</a:t>
            </a:r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≥ (</a:t>
            </a:r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−1) </a:t>
            </a:r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(equality iff </a:t>
            </a:r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2)</a:t>
            </a:r>
            <a:endParaRPr lang="en-US" sz="780" dirty="0"/>
          </a:p>
        </p:txBody>
      </p:sp>
      <p:sp>
        <p:nvSpPr>
          <p:cNvPr id="117" name="Text 115"/>
          <p:cNvSpPr txBox="1"/>
          <p:nvPr/>
        </p:nvSpPr>
        <p:spPr>
          <a:xfrm>
            <a:off x="3564000" y="2880000"/>
            <a:ext cx="232704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</a:t>
            </a:r>
            <a:endParaRPr lang="en-US" sz="900" dirty="0"/>
          </a:p>
        </p:txBody>
      </p:sp>
      <p:sp>
        <p:nvSpPr>
          <p:cNvPr id="118" name="Text 116"/>
          <p:cNvSpPr txBox="1"/>
          <p:nvPr/>
        </p:nvSpPr>
        <p:spPr>
          <a:xfrm>
            <a:off x="3751200" y="2880000"/>
            <a:ext cx="2034072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Rare-infection limit II: excess hyperdegree </a:t>
            </a:r>
            <a:pPr algn="l" indent="0" marL="0">
              <a:buNone/>
            </a:pPr>
            <a:r>
              <a:rPr lang="en-US" sz="7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750" i="1" baseline="-40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3808892" y="3232924"/>
            <a:ext cx="1058207" cy="770138"/>
          </a:xfrm>
          <a:custGeom>
            <a:avLst/>
            <a:gdLst/>
            <a:ahLst/>
            <a:cxnLst/>
            <a:rect l="l" t="t" r="r" b="b"/>
            <a:pathLst>
              <a:path w="1058207" h="770138">
                <a:moveTo>
                  <a:pt x="1666" y="596085"/>
                </a:moveTo>
                <a:lnTo>
                  <a:pt x="0" y="613801"/>
                </a:lnTo>
                <a:lnTo>
                  <a:pt x="427" y="631589"/>
                </a:lnTo>
                <a:lnTo>
                  <a:pt x="2940" y="649204"/>
                </a:lnTo>
                <a:lnTo>
                  <a:pt x="7505" y="666402"/>
                </a:lnTo>
                <a:lnTo>
                  <a:pt x="14059" y="682944"/>
                </a:lnTo>
                <a:lnTo>
                  <a:pt x="22511" y="698602"/>
                </a:lnTo>
                <a:lnTo>
                  <a:pt x="32744" y="713159"/>
                </a:lnTo>
                <a:lnTo>
                  <a:pt x="44617" y="726412"/>
                </a:lnTo>
                <a:lnTo>
                  <a:pt x="57964" y="738180"/>
                </a:lnTo>
                <a:lnTo>
                  <a:pt x="72601" y="748297"/>
                </a:lnTo>
                <a:lnTo>
                  <a:pt x="88325" y="756625"/>
                </a:lnTo>
                <a:lnTo>
                  <a:pt x="104918" y="763049"/>
                </a:lnTo>
                <a:lnTo>
                  <a:pt x="122152" y="767478"/>
                </a:lnTo>
                <a:lnTo>
                  <a:pt x="139786" y="769852"/>
                </a:lnTo>
                <a:lnTo>
                  <a:pt x="157577" y="770138"/>
                </a:lnTo>
                <a:lnTo>
                  <a:pt x="175279" y="768332"/>
                </a:lnTo>
                <a:lnTo>
                  <a:pt x="192646" y="764459"/>
                </a:lnTo>
                <a:lnTo>
                  <a:pt x="948646" y="548459"/>
                </a:lnTo>
                <a:lnTo>
                  <a:pt x="969584" y="540765"/>
                </a:lnTo>
                <a:lnTo>
                  <a:pt x="989162" y="530075"/>
                </a:lnTo>
                <a:lnTo>
                  <a:pt x="1006954" y="516620"/>
                </a:lnTo>
                <a:lnTo>
                  <a:pt x="1022573" y="500694"/>
                </a:lnTo>
                <a:lnTo>
                  <a:pt x="1035679" y="482644"/>
                </a:lnTo>
                <a:lnTo>
                  <a:pt x="1045986" y="462861"/>
                </a:lnTo>
                <a:lnTo>
                  <a:pt x="1053271" y="441778"/>
                </a:lnTo>
                <a:lnTo>
                  <a:pt x="1057374" y="419852"/>
                </a:lnTo>
                <a:lnTo>
                  <a:pt x="1058207" y="397561"/>
                </a:lnTo>
                <a:lnTo>
                  <a:pt x="1055751" y="375390"/>
                </a:lnTo>
                <a:lnTo>
                  <a:pt x="1050060" y="353821"/>
                </a:lnTo>
                <a:lnTo>
                  <a:pt x="1041258" y="333325"/>
                </a:lnTo>
                <a:lnTo>
                  <a:pt x="1029535" y="314347"/>
                </a:lnTo>
                <a:lnTo>
                  <a:pt x="1015148" y="297300"/>
                </a:lnTo>
                <a:lnTo>
                  <a:pt x="998410" y="282555"/>
                </a:lnTo>
                <a:lnTo>
                  <a:pt x="979684" y="270433"/>
                </a:lnTo>
                <a:lnTo>
                  <a:pt x="959379" y="261199"/>
                </a:lnTo>
                <a:lnTo>
                  <a:pt x="275379" y="9199"/>
                </a:lnTo>
                <a:lnTo>
                  <a:pt x="260340" y="4532"/>
                </a:lnTo>
                <a:lnTo>
                  <a:pt x="244899" y="1455"/>
                </a:lnTo>
                <a:lnTo>
                  <a:pt x="229220" y="0"/>
                </a:lnTo>
                <a:lnTo>
                  <a:pt x="213476" y="184"/>
                </a:lnTo>
                <a:lnTo>
                  <a:pt x="197836" y="2003"/>
                </a:lnTo>
                <a:lnTo>
                  <a:pt x="182470" y="5440"/>
                </a:lnTo>
                <a:lnTo>
                  <a:pt x="167544" y="10456"/>
                </a:lnTo>
                <a:lnTo>
                  <a:pt x="153222" y="16997"/>
                </a:lnTo>
                <a:lnTo>
                  <a:pt x="139657" y="24992"/>
                </a:lnTo>
                <a:lnTo>
                  <a:pt x="126997" y="34354"/>
                </a:lnTo>
                <a:lnTo>
                  <a:pt x="115380" y="44982"/>
                </a:lnTo>
                <a:lnTo>
                  <a:pt x="104930" y="56761"/>
                </a:lnTo>
                <a:lnTo>
                  <a:pt x="95763" y="69562"/>
                </a:lnTo>
                <a:lnTo>
                  <a:pt x="87976" y="83247"/>
                </a:lnTo>
                <a:lnTo>
                  <a:pt x="81655" y="97668"/>
                </a:lnTo>
                <a:lnTo>
                  <a:pt x="76867" y="112669"/>
                </a:lnTo>
                <a:lnTo>
                  <a:pt x="73666" y="128085"/>
                </a:lnTo>
                <a:close/>
              </a:path>
            </a:pathLst>
          </a:custGeom>
          <a:solidFill>
            <a:srgbClr val="7A8794">
              <a:alpha val="3000"/>
            </a:srgbClr>
          </a:solidFill>
          <a:ln w="11430">
            <a:solidFill>
              <a:srgbClr val="A6A6A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976200" y="3328200"/>
            <a:ext cx="111600" cy="111600"/>
          </a:xfrm>
          <a:prstGeom prst="ellipse">
            <a:avLst/>
          </a:prstGeom>
          <a:solidFill>
            <a:srgbClr val="F2C4C1"/>
          </a:solidFill>
          <a:ln w="9525">
            <a:solidFill>
              <a:srgbClr val="D5AFA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904200" y="3796200"/>
            <a:ext cx="111600" cy="111600"/>
          </a:xfrm>
          <a:prstGeom prst="ellipse">
            <a:avLst/>
          </a:prstGeom>
          <a:solidFill>
            <a:srgbClr val="B4B5B7"/>
          </a:solidFill>
          <a:ln w="9525">
            <a:solidFill>
              <a:srgbClr val="A4A5A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100400" y="3596400"/>
            <a:ext cx="151200" cy="151200"/>
          </a:xfrm>
          <a:prstGeom prst="line">
            <a:avLst/>
          </a:prstGeom>
          <a:noFill/>
          <a:ln w="17780">
            <a:solidFill>
              <a:srgbClr val="60606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4100400" y="3596400"/>
            <a:ext cx="151200" cy="151200"/>
          </a:xfrm>
          <a:prstGeom prst="line">
            <a:avLst/>
          </a:prstGeom>
          <a:noFill/>
          <a:ln w="17780">
            <a:solidFill>
              <a:srgbClr val="606060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3564000" y="4055085"/>
            <a:ext cx="817920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 hyperedge</a:t>
            </a:r>
            <a:endParaRPr lang="en-US" sz="700" dirty="0"/>
          </a:p>
        </p:txBody>
      </p:sp>
      <p:sp>
        <p:nvSpPr>
          <p:cNvPr id="125" name="Text 123"/>
          <p:cNvSpPr txBox="1"/>
          <p:nvPr/>
        </p:nvSpPr>
        <p:spPr>
          <a:xfrm>
            <a:off x="3564000" y="4208508"/>
            <a:ext cx="72648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 (−</a:t>
            </a:r>
            <a:pPr algn="l" indent="0" marL="0">
              <a:buNone/>
            </a:pPr>
            <a:r>
              <a:rPr lang="en-US" sz="700" i="1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pPr algn="l" indent="0" marL="0">
              <a:buNone/>
            </a:pPr>
            <a:r>
              <a:rPr lang="en-US" sz="7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4565074" y="3485064"/>
            <a:ext cx="1454109" cy="1058118"/>
          </a:xfrm>
          <a:custGeom>
            <a:avLst/>
            <a:gdLst/>
            <a:ahLst/>
            <a:cxnLst/>
            <a:rect l="l" t="t" r="r" b="b"/>
            <a:pathLst>
              <a:path w="1454109" h="1058118">
                <a:moveTo>
                  <a:pt x="211530" y="12413"/>
                </a:moveTo>
                <a:lnTo>
                  <a:pt x="189099" y="4634"/>
                </a:lnTo>
                <a:lnTo>
                  <a:pt x="165726" y="462"/>
                </a:lnTo>
                <a:lnTo>
                  <a:pt x="141989" y="0"/>
                </a:lnTo>
                <a:lnTo>
                  <a:pt x="118472" y="3260"/>
                </a:lnTo>
                <a:lnTo>
                  <a:pt x="95755" y="10161"/>
                </a:lnTo>
                <a:lnTo>
                  <a:pt x="74399" y="20532"/>
                </a:lnTo>
                <a:lnTo>
                  <a:pt x="54929" y="34119"/>
                </a:lnTo>
                <a:lnTo>
                  <a:pt x="37827" y="50587"/>
                </a:lnTo>
                <a:lnTo>
                  <a:pt x="23513" y="69528"/>
                </a:lnTo>
                <a:lnTo>
                  <a:pt x="12340" y="90477"/>
                </a:lnTo>
                <a:lnTo>
                  <a:pt x="4584" y="112916"/>
                </a:lnTo>
                <a:lnTo>
                  <a:pt x="437" y="136293"/>
                </a:lnTo>
                <a:lnTo>
                  <a:pt x="0" y="160031"/>
                </a:lnTo>
                <a:lnTo>
                  <a:pt x="3284" y="183544"/>
                </a:lnTo>
                <a:lnTo>
                  <a:pt x="10209" y="206254"/>
                </a:lnTo>
                <a:lnTo>
                  <a:pt x="20603" y="227599"/>
                </a:lnTo>
                <a:lnTo>
                  <a:pt x="34210" y="247055"/>
                </a:lnTo>
                <a:lnTo>
                  <a:pt x="538210" y="859055"/>
                </a:lnTo>
                <a:lnTo>
                  <a:pt x="541281" y="862667"/>
                </a:lnTo>
                <a:lnTo>
                  <a:pt x="544464" y="866181"/>
                </a:lnTo>
                <a:lnTo>
                  <a:pt x="547756" y="869594"/>
                </a:lnTo>
                <a:lnTo>
                  <a:pt x="551153" y="872901"/>
                </a:lnTo>
                <a:lnTo>
                  <a:pt x="554651" y="876101"/>
                </a:lnTo>
                <a:lnTo>
                  <a:pt x="558249" y="879189"/>
                </a:lnTo>
                <a:lnTo>
                  <a:pt x="561941" y="882163"/>
                </a:lnTo>
                <a:lnTo>
                  <a:pt x="565725" y="885020"/>
                </a:lnTo>
                <a:lnTo>
                  <a:pt x="569597" y="887757"/>
                </a:lnTo>
                <a:lnTo>
                  <a:pt x="573553" y="890371"/>
                </a:lnTo>
                <a:lnTo>
                  <a:pt x="577588" y="892860"/>
                </a:lnTo>
                <a:lnTo>
                  <a:pt x="581700" y="895221"/>
                </a:lnTo>
                <a:lnTo>
                  <a:pt x="585883" y="897452"/>
                </a:lnTo>
                <a:lnTo>
                  <a:pt x="590135" y="899550"/>
                </a:lnTo>
                <a:lnTo>
                  <a:pt x="594450" y="901514"/>
                </a:lnTo>
                <a:lnTo>
                  <a:pt x="598825" y="903342"/>
                </a:lnTo>
                <a:lnTo>
                  <a:pt x="603255" y="905032"/>
                </a:lnTo>
                <a:lnTo>
                  <a:pt x="999255" y="1049032"/>
                </a:lnTo>
                <a:lnTo>
                  <a:pt x="1008843" y="1052161"/>
                </a:lnTo>
                <a:lnTo>
                  <a:pt x="1018618" y="1054644"/>
                </a:lnTo>
                <a:lnTo>
                  <a:pt x="1028537" y="1056469"/>
                </a:lnTo>
                <a:lnTo>
                  <a:pt x="1038556" y="1057629"/>
                </a:lnTo>
                <a:lnTo>
                  <a:pt x="1048629" y="1058118"/>
                </a:lnTo>
                <a:lnTo>
                  <a:pt x="1058713" y="1057935"/>
                </a:lnTo>
                <a:lnTo>
                  <a:pt x="1068762" y="1057080"/>
                </a:lnTo>
                <a:lnTo>
                  <a:pt x="1078732" y="1055557"/>
                </a:lnTo>
                <a:lnTo>
                  <a:pt x="1088579" y="1053372"/>
                </a:lnTo>
                <a:lnTo>
                  <a:pt x="1098257" y="1050537"/>
                </a:lnTo>
                <a:lnTo>
                  <a:pt x="1107725" y="1047062"/>
                </a:lnTo>
                <a:lnTo>
                  <a:pt x="1116941" y="1042963"/>
                </a:lnTo>
                <a:lnTo>
                  <a:pt x="1125862" y="1038260"/>
                </a:lnTo>
                <a:lnTo>
                  <a:pt x="1134450" y="1032972"/>
                </a:lnTo>
                <a:lnTo>
                  <a:pt x="1142667" y="1027123"/>
                </a:lnTo>
                <a:lnTo>
                  <a:pt x="1150475" y="1020740"/>
                </a:lnTo>
                <a:lnTo>
                  <a:pt x="1157841" y="1013850"/>
                </a:lnTo>
                <a:lnTo>
                  <a:pt x="1409841" y="761850"/>
                </a:lnTo>
                <a:lnTo>
                  <a:pt x="1421341" y="748954"/>
                </a:lnTo>
                <a:lnTo>
                  <a:pt x="1431294" y="734830"/>
                </a:lnTo>
                <a:lnTo>
                  <a:pt x="1439571" y="719663"/>
                </a:lnTo>
                <a:lnTo>
                  <a:pt x="1446064" y="703650"/>
                </a:lnTo>
                <a:lnTo>
                  <a:pt x="1450687" y="687001"/>
                </a:lnTo>
                <a:lnTo>
                  <a:pt x="1453381" y="669934"/>
                </a:lnTo>
                <a:lnTo>
                  <a:pt x="1454109" y="652670"/>
                </a:lnTo>
                <a:lnTo>
                  <a:pt x="1452864" y="635436"/>
                </a:lnTo>
                <a:lnTo>
                  <a:pt x="1449660" y="618457"/>
                </a:lnTo>
                <a:lnTo>
                  <a:pt x="1444540" y="601954"/>
                </a:lnTo>
                <a:lnTo>
                  <a:pt x="1437570" y="586143"/>
                </a:lnTo>
                <a:lnTo>
                  <a:pt x="1428843" y="571231"/>
                </a:lnTo>
                <a:lnTo>
                  <a:pt x="1418470" y="557411"/>
                </a:lnTo>
                <a:lnTo>
                  <a:pt x="1406589" y="544866"/>
                </a:lnTo>
                <a:lnTo>
                  <a:pt x="1393354" y="533757"/>
                </a:lnTo>
                <a:lnTo>
                  <a:pt x="1378939" y="524232"/>
                </a:lnTo>
                <a:lnTo>
                  <a:pt x="1363530" y="516413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dash"/>
          </a:ln>
        </p:spPr>
      </p:sp>
      <p:sp>
        <p:nvSpPr>
          <p:cNvPr id="127" name="Shape 125"/>
          <p:cNvSpPr/>
          <p:nvPr/>
        </p:nvSpPr>
        <p:spPr>
          <a:xfrm>
            <a:off x="4564984" y="3052835"/>
            <a:ext cx="1345934" cy="734125"/>
          </a:xfrm>
          <a:custGeom>
            <a:avLst/>
            <a:gdLst/>
            <a:ahLst/>
            <a:cxnLst/>
            <a:rect l="l" t="t" r="r" b="b"/>
            <a:pathLst>
              <a:path w="1345934" h="734125">
                <a:moveTo>
                  <a:pt x="60296" y="462205"/>
                </a:moveTo>
                <a:lnTo>
                  <a:pt x="41892" y="478507"/>
                </a:lnTo>
                <a:lnTo>
                  <a:pt x="26373" y="497575"/>
                </a:lnTo>
                <a:lnTo>
                  <a:pt x="14150" y="518906"/>
                </a:lnTo>
                <a:lnTo>
                  <a:pt x="5545" y="541936"/>
                </a:lnTo>
                <a:lnTo>
                  <a:pt x="787" y="566057"/>
                </a:lnTo>
                <a:lnTo>
                  <a:pt x="0" y="590629"/>
                </a:lnTo>
                <a:lnTo>
                  <a:pt x="3206" y="615004"/>
                </a:lnTo>
                <a:lnTo>
                  <a:pt x="10320" y="638538"/>
                </a:lnTo>
                <a:lnTo>
                  <a:pt x="21154" y="660607"/>
                </a:lnTo>
                <a:lnTo>
                  <a:pt x="35421" y="680629"/>
                </a:lnTo>
                <a:lnTo>
                  <a:pt x="52744" y="698074"/>
                </a:lnTo>
                <a:lnTo>
                  <a:pt x="72665" y="712481"/>
                </a:lnTo>
                <a:lnTo>
                  <a:pt x="94658" y="723470"/>
                </a:lnTo>
                <a:lnTo>
                  <a:pt x="118141" y="730748"/>
                </a:lnTo>
                <a:lnTo>
                  <a:pt x="142494" y="734125"/>
                </a:lnTo>
                <a:lnTo>
                  <a:pt x="167071" y="733510"/>
                </a:lnTo>
                <a:lnTo>
                  <a:pt x="191224" y="728921"/>
                </a:lnTo>
                <a:lnTo>
                  <a:pt x="1235224" y="440921"/>
                </a:lnTo>
                <a:lnTo>
                  <a:pt x="1256748" y="433189"/>
                </a:lnTo>
                <a:lnTo>
                  <a:pt x="1276860" y="422299"/>
                </a:lnTo>
                <a:lnTo>
                  <a:pt x="1295099" y="408500"/>
                </a:lnTo>
                <a:lnTo>
                  <a:pt x="1311049" y="392108"/>
                </a:lnTo>
                <a:lnTo>
                  <a:pt x="1324343" y="373497"/>
                </a:lnTo>
                <a:lnTo>
                  <a:pt x="1334678" y="353095"/>
                </a:lnTo>
                <a:lnTo>
                  <a:pt x="1341818" y="331367"/>
                </a:lnTo>
                <a:lnTo>
                  <a:pt x="1345599" y="308811"/>
                </a:lnTo>
                <a:lnTo>
                  <a:pt x="1345934" y="285942"/>
                </a:lnTo>
                <a:lnTo>
                  <a:pt x="1342816" y="263285"/>
                </a:lnTo>
                <a:lnTo>
                  <a:pt x="1336317" y="241357"/>
                </a:lnTo>
                <a:lnTo>
                  <a:pt x="1326585" y="220660"/>
                </a:lnTo>
                <a:lnTo>
                  <a:pt x="1313842" y="201668"/>
                </a:lnTo>
                <a:lnTo>
                  <a:pt x="1298380" y="184815"/>
                </a:lnTo>
                <a:lnTo>
                  <a:pt x="1280553" y="170487"/>
                </a:lnTo>
                <a:lnTo>
                  <a:pt x="1260770" y="159011"/>
                </a:lnTo>
                <a:lnTo>
                  <a:pt x="1239481" y="150651"/>
                </a:lnTo>
                <a:lnTo>
                  <a:pt x="771481" y="6651"/>
                </a:lnTo>
                <a:lnTo>
                  <a:pt x="763410" y="4411"/>
                </a:lnTo>
                <a:lnTo>
                  <a:pt x="755226" y="2620"/>
                </a:lnTo>
                <a:lnTo>
                  <a:pt x="746956" y="1286"/>
                </a:lnTo>
                <a:lnTo>
                  <a:pt x="738624" y="412"/>
                </a:lnTo>
                <a:lnTo>
                  <a:pt x="730257" y="0"/>
                </a:lnTo>
                <a:lnTo>
                  <a:pt x="721880" y="52"/>
                </a:lnTo>
                <a:lnTo>
                  <a:pt x="713519" y="569"/>
                </a:lnTo>
                <a:lnTo>
                  <a:pt x="705199" y="1547"/>
                </a:lnTo>
                <a:lnTo>
                  <a:pt x="696946" y="2985"/>
                </a:lnTo>
                <a:lnTo>
                  <a:pt x="688786" y="4878"/>
                </a:lnTo>
                <a:lnTo>
                  <a:pt x="680742" y="7220"/>
                </a:lnTo>
                <a:lnTo>
                  <a:pt x="672841" y="10004"/>
                </a:lnTo>
                <a:lnTo>
                  <a:pt x="665106" y="13221"/>
                </a:lnTo>
                <a:lnTo>
                  <a:pt x="657562" y="16861"/>
                </a:lnTo>
                <a:lnTo>
                  <a:pt x="650230" y="20914"/>
                </a:lnTo>
                <a:lnTo>
                  <a:pt x="643134" y="25367"/>
                </a:lnTo>
                <a:lnTo>
                  <a:pt x="636296" y="30205"/>
                </a:lnTo>
                <a:close/>
              </a:path>
            </a:pathLst>
          </a:cu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236200" y="3148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704200" y="3292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64200" y="4192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560200" y="4336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812200" y="4084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644000" y="3564000"/>
            <a:ext cx="144000" cy="1440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6012000" y="3182508"/>
            <a:ext cx="36072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135" name="Text 133"/>
          <p:cNvSpPr txBox="1"/>
          <p:nvPr/>
        </p:nvSpPr>
        <p:spPr>
          <a:xfrm>
            <a:off x="6156000" y="4118508"/>
            <a:ext cx="36072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00" dirty="0"/>
          </a:p>
        </p:txBody>
      </p:sp>
      <p:sp>
        <p:nvSpPr>
          <p:cNvPr id="136" name="Text 134"/>
          <p:cNvSpPr txBox="1"/>
          <p:nvPr/>
        </p:nvSpPr>
        <p:spPr>
          <a:xfrm>
            <a:off x="3564000" y="4568508"/>
            <a:ext cx="232668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type-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node reaches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remaining layer-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hyperedges</a:t>
            </a:r>
            <a:endParaRPr lang="en-US" sz="700" dirty="0"/>
          </a:p>
        </p:txBody>
      </p:sp>
      <p:sp>
        <p:nvSpPr>
          <p:cNvPr id="137" name="Text 135"/>
          <p:cNvSpPr txBox="1"/>
          <p:nvPr/>
        </p:nvSpPr>
        <p:spPr>
          <a:xfrm>
            <a:off x="3564000" y="4739364"/>
            <a:ext cx="1522008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⟨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0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0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0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0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0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70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⟩/⟨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0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0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0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⟩−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[Eq. (23)]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3564000" y="4946400"/>
            <a:ext cx="1584000" cy="259200"/>
          </a:xfrm>
          <a:prstGeom prst="roundRect">
            <a:avLst>
              <a:gd name="adj" fmla="val 16667"/>
            </a:avLst>
          </a:prstGeom>
          <a:solidFill>
            <a:srgbClr val="F2F4F6"/>
          </a:solidFill>
          <a:ln w="8890">
            <a:solidFill>
              <a:srgbClr val="B9C0C7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3672000" y="4998159"/>
            <a:ext cx="653328" cy="155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60" b="1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pPr algn="l" indent="0" marL="0">
              <a:buNone/>
            </a:pPr>
            <a:r>
              <a:rPr lang="en-US" sz="8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86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860" b="1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pPr algn="l" indent="0" marL="0">
              <a:buNone/>
            </a:pPr>
            <a:r>
              <a:rPr lang="en-US" sz="8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 </a:t>
            </a:r>
            <a:pPr algn="l" indent="0" marL="0">
              <a:buNone/>
            </a:pPr>
            <a:r>
              <a:rPr lang="en-US" sz="86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60" b="1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60" dirty="0"/>
          </a:p>
        </p:txBody>
      </p:sp>
      <p:sp>
        <p:nvSpPr>
          <p:cNvPr id="140" name="Text 138"/>
          <p:cNvSpPr txBox="1"/>
          <p:nvPr/>
        </p:nvSpPr>
        <p:spPr>
          <a:xfrm>
            <a:off x="5292000" y="5000508"/>
            <a:ext cx="132084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1 ⇒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[Eqs. (24), (25)]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180000" y="5270400"/>
            <a:ext cx="6516000" cy="0"/>
          </a:xfrm>
          <a:prstGeom prst="line">
            <a:avLst/>
          </a:prstGeom>
          <a:noFill/>
          <a:ln w="7620">
            <a:solidFill>
              <a:srgbClr val="DCDCD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60200" y="54090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324000" y="5397885"/>
            <a:ext cx="561888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susceptible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916200" y="5409000"/>
            <a:ext cx="111600" cy="1116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1080000" y="5397885"/>
            <a:ext cx="424728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infected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1564200" y="5409000"/>
            <a:ext cx="111600" cy="111600"/>
          </a:xfrm>
          <a:prstGeom prst="ellipse">
            <a:avLst/>
          </a:prstGeom>
          <a:solidFill>
            <a:srgbClr val="43474A"/>
          </a:solidFill>
          <a:ln w="9525">
            <a:solidFill>
              <a:srgbClr val="1B1E20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1728000" y="5397885"/>
            <a:ext cx="507024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2248200" y="5409000"/>
            <a:ext cx="111600" cy="111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2412000" y="5393670"/>
            <a:ext cx="534456" cy="1422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node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3096000" y="5464800"/>
            <a:ext cx="216000" cy="0"/>
          </a:xfrm>
          <a:prstGeom prst="line">
            <a:avLst/>
          </a:prstGeom>
          <a:noFill/>
          <a:ln w="11430">
            <a:solidFill>
              <a:srgbClr val="2B2B2B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3384000" y="5389308"/>
            <a:ext cx="36072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3888000" y="5464800"/>
            <a:ext cx="216000" cy="0"/>
          </a:xfrm>
          <a:prstGeom prst="line">
            <a:avLst/>
          </a:prstGeom>
          <a:noFill/>
          <a:ln w="11430">
            <a:solidFill>
              <a:srgbClr val="2B2B2B"/>
            </a:solidFill>
            <a:prstDash val="dash"/>
          </a:ln>
        </p:spPr>
      </p:sp>
      <p:sp>
        <p:nvSpPr>
          <p:cNvPr id="153" name="Text 151"/>
          <p:cNvSpPr txBox="1"/>
          <p:nvPr/>
        </p:nvSpPr>
        <p:spPr>
          <a:xfrm>
            <a:off x="4176000" y="5389308"/>
            <a:ext cx="36072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4680000" y="5464800"/>
            <a:ext cx="216000" cy="0"/>
          </a:xfrm>
          <a:prstGeom prst="line">
            <a:avLst/>
          </a:prstGeom>
          <a:noFill/>
          <a:ln w="1143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55" name="Text 153"/>
          <p:cNvSpPr txBox="1"/>
          <p:nvPr/>
        </p:nvSpPr>
        <p:spPr>
          <a:xfrm>
            <a:off x="4968000" y="5397885"/>
            <a:ext cx="607608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</a:t>
            </a:r>
            <a:endParaRPr lang="en-US" sz="700" dirty="0"/>
          </a:p>
        </p:txBody>
      </p:sp>
      <p:sp>
        <p:nvSpPr>
          <p:cNvPr id="156" name="Shape 154"/>
          <p:cNvSpPr/>
          <p:nvPr/>
        </p:nvSpPr>
        <p:spPr>
          <a:xfrm>
            <a:off x="5688000" y="5464800"/>
            <a:ext cx="216000" cy="0"/>
          </a:xfrm>
          <a:prstGeom prst="line">
            <a:avLst/>
          </a:prstGeom>
          <a:noFill/>
          <a:ln w="11430">
            <a:solidFill>
              <a:srgbClr val="3D3D3D"/>
            </a:solidFill>
            <a:prstDash val="solid"/>
            <a:tailEnd type="triangle"/>
          </a:ln>
        </p:spPr>
      </p:sp>
      <p:sp>
        <p:nvSpPr>
          <p:cNvPr id="157" name="Text 155"/>
          <p:cNvSpPr txBox="1"/>
          <p:nvPr/>
        </p:nvSpPr>
        <p:spPr>
          <a:xfrm>
            <a:off x="5976000" y="5397885"/>
            <a:ext cx="443016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coupling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Fig. 1 — multiplex hypergraph EBCM</dc:creator>
  <cp:lastModifiedBy>Fig. 1 — multiplex hypergraph EBCM</cp:lastModifiedBy>
  <cp:revision>1</cp:revision>
  <dcterms:created xsi:type="dcterms:W3CDTF">2026-09-04T07:54:50Z</dcterms:created>
  <dcterms:modified xsi:type="dcterms:W3CDTF">2026-09-04T07:54:50Z</dcterms:modified>
</cp:coreProperties>
</file>